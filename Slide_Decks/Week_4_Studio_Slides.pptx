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mission, not the framework. Tell students what problem they will solve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aloud. The scene should make the day's artefact feel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repeated habit. Avoid adding extra process vocabulary unless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brief is the student's contract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deck self-contained. Point students to the exact files and ask the confirm-first questions before they prompt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worked example briefly. The goal is not copying the answer; it is copying the evidence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15-20 minutes. Each concept must feed the studio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exercises that match the room pace. Do not skip the defence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Three-hour delivery path.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manage pace. Do not let the concept burst consume studio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outcomes in operational language; students should know what evidence they must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weekly so the fastest coder does not dominate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Week 1, ask students what makes automation trustworthy in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 and let the business pressure create the need for today's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Understand the problem before prompting.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files or point students to the folder. The point is orientation, not detailed analysis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teams answer these aloud or in their work order before using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Control the agent before it controls the task.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Short teaching, immediate use.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Model the evidence standard.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Worked_Examples.md for the full version. Ask what makes it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students do the thinking before the build.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Build the first version.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on screen during the first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Failure is the teaching device.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Repair, harden, and produce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visible during repair. Push teams to prevent recurrence, not merely patch the visible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evidence social.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Turn activity into assessable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final submission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the habit portable.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pre-submission warning, not as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 or operational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compare this to a vague prompt. The work order is the supervision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Do not solve too early; ask teams what evidence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failure playful and concrete. The point is not blame; it is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students from fixing once to preventing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end-of-lab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demo is not the smoothest. It is the one with the clearest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pre-mortem before teams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evidence, not add decorative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It turns activity into reflection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habit, not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1">
                <a:solidFill>
                  <a:srgbClr val="E8F1FA"/>
                </a:solidFill>
                <a:latin typeface="Aptos Display"/>
              </a:rPr>
              <a:t>ANL559 - AI Agents for Analytics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241280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From Notebook to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37560"/>
            <a:ext cx="96926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0">
                <a:solidFill>
                  <a:srgbClr val="E8F1FA"/>
                </a:solidFill>
                <a:latin typeface="Aptos"/>
              </a:rPr>
              <a:t>Convert analysis into a small internal product people can actually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00600"/>
            <a:ext cx="196596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00600"/>
            <a:ext cx="196596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4800600"/>
            <a:ext cx="196596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412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0">
                <a:solidFill>
                  <a:srgbClr val="E8F1FA"/>
                </a:solidFill>
                <a:latin typeface="Aptos"/>
              </a:rPr>
              <a:t>A mission-based alternative course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The practical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1206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notebook is a thinking space. A tool is an operating surface.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Agents can scaffold a service quickly, but they rarely make it robust by default.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first user will find the input you forgot to validate.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4663440" cy="4297680"/>
          </a:xfrm>
          <a:prstGeom prst="roundRect">
            <a:avLst/>
          </a:prstGeom>
          <a:solidFill>
            <a:srgbClr val="FBF1E2"/>
          </a:solidFill>
          <a:ln>
            <a:solidFill>
              <a:srgbClr val="D9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E242A"/>
                </a:solidFill>
                <a:latin typeface="Aptos Display"/>
              </a:rPr>
              <a:t>Operations likes the analysis but will not run a notebook. They need a tool that gives a consistent answer and rejects bad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The studio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37560" cy="406908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Use the agent to create the first useful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06908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BA3B46"/>
                </a:solidFill>
                <a:latin typeface="Aptos Display"/>
              </a:rPr>
              <a:t>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Attack the draft with bad data, edge cases, and misuse.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37560" cy="406908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468A52"/>
                </a:solidFill>
                <a:latin typeface="Aptos Display"/>
              </a:rPr>
              <a:t>DEFEND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Keep only what survives evidence, tests, and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D6FC2"/>
                </a:solidFill>
                <a:latin typeface="Aptos Display"/>
              </a:rPr>
              <a:t>Turn the model or calculation into a contract-bound analytics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You 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Internal API or dashboard, input contract, CI checks, and runbook.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Success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artefact runs from a clean checkout.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At least one agent failure is found and fixed.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final claim has evidence a peer can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these files and assumptions before asking the agent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Week 3 decision rule or model output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Sample_Data_and_Scenarios.md Week 4 request schema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Starter_Kit/templates/runbook_template.md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Starter_Kit/templates/peer_demo_review_template.md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Confirm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7548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fields are required in a valid request?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should the tool do with malformed input?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Who owns recovery if the tool fails?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Worked example to imitate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Worked_Examples.md and Starter_Kit/examples/ for the full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5778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strong evidence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57784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input contract: field, type, range, required flag, error.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bad-input test: missing customer_id returns a controlled rejection.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runbook: start, health check, known failure, rollback, owner.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Discuss before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makes this example inspectable?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 is supported by evidence?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limit is still named?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burst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Only the ideas needed for today's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91440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0136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Input contract at the boundary.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91440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03580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CI as an acceptance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91440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7024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Runbook as the handover from builder to operator.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Guided practice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 matching file in Exercises/ for timing, instructions, and instructor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Core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486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Product boundary: define user, input, output, refusal, and scope.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Bad-input lab: design invalid requests before implementation.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Handoff test: another team runs the tool from your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Submit by 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concrete artefact.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reproduced or plausible failure.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evidence-linked defence note.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Seminar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Three-hour delivery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slides as pacing support: set context, practise, build, break, repair,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180-minute run of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0-5: retrieval link and setup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5-15: cold open and stakeholder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15-30: demo target and success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30-50: concept burst with worked example.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50-80: guided practice and prompt clinic.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80-115: Sprint A builds the first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464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115-135: failure cards and defect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4301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82472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135-165: Sprint B repairs and evidence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501383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648309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165-180: peer demo, defence note, exit ticket.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Learning outcomes for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the first version of: Internal API or dashboard, input contract, CI checks, and runbook.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Expose at least one agent, data, prompt, model, or workflow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Explain what can be trusted, what was rejected, and what still needs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Team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Operates the repo, files, agent, notebook, tool, or spreadsheet.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Reads outputs, checks assumptions, challenges claims, and watches for defects.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Maintains the evidence pack, AI-use log, and defence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Retrieval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we build, break, and defend last week?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habit matters again today?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previous artefact becomes input for this mission?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Cold 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Operations likes the analysis but will not run a notebook. They need a tool that gives a consistent answer and rejects bad input.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go wrong if the team trusted the agent too early?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would make the stakeholder comfortable?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Stakeholder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stakeholder and the decision they must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artefact they expect to receive.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risk if the artefact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evidence that would reduce that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what should be out of scope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What makes this an AI-agent course?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delegate bounded work to the agent instead of doing everything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inspect, test, reject, and repair agent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defend the final artefact as human analysts, not as agent operators.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Context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Understand the problem before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know the files, definitions, stakeholder, and acceptance criteria before the agent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file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Week 3 decision rule or model output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Sample_Data_and_Scenarios.md Week 4 request schema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Starter_Kit/templates/runbook_template.md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Starter_Kit/templates/peer_demo_review_template.md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Confirm before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fields are required in a valid request?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should the tool do with malformed input?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Who owns recovery if the tool fails?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Good artefact, weak artefact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Runs or can be inspected, names assumptions, and includes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Looks polished but hides definitions, dropped records, leakage, or unsupported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Repairable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Imperfect first draft with visible evidence and a clear next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Prompt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Control the agent before it controls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practise turning vague requests into supervised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Weak prompt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broad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the task boundary and success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trusting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definitions, joins, thresholds, or causal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vague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output cannot be checked because no acceptance criteria were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Strong work-order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Business goal: what decision or workflow does this support?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Inputs: files, tables, definitions, sources, or prior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Task: the bounded work the agent should perform.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Acceptance criteria: what must be true before humans accept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Constraints: what the agent must not invent, drop, infer, or overclaim.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Output format: code, table, memo, test, checklist, or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Activity 1 - prompt rewrite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Product boundary: define user, input, output, refusal, and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revised work order.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acceptance criterion.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constraint that prevents a known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Prompt rewrite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word in the prompt reduced ambiguity?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acceptance criterion can actually fail?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constraint protects the stakeholder?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Concept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Short teaching, immediate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concept slides to equip the build, not to turn the seminar into a lecture.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1: Input contract at the boundary.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Internal API or dashboard, input contract, CI checks, and runbook.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Tool works only because a notebook variable is still in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Screenshot or curl transcript of a successful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Concept 1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2: CI as an acceptance 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Internal API or dashboard, input contract, CI checks, and runbook.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Malformed input crashes the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Rejected bad-input example.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Concept 2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3: Runbook as the handover from builder to operator.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Internal API or dashboard, input contract, CI checks, and runbook.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The container includes data files or secrets.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CI run link or local test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Concept 3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Model the evidence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imitate the structure of evidence, not copy the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Worked example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input contract: field, type, range, required flag, error.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bad-input test: missing customer_id returns a controlled rejection.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runbook: start, health check, known failure, rollback, owner.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Worked example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claim is being made?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Where is the evidence?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limit is named?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you ask before accepting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students do the thinking before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goal is not coverage. The goal is a better first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Product boundary: define user, input, output, refusal, and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Bad-input lab: design invalid requests before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Handoff test: another team runs the tool from your instructions.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Build the first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Time-box the build so students have something real to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Sprint A operating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Start from the work order, not a blank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Keep the agent output visible and reviewable.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Run the artefact before improving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Write down the first defect or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first version before repair.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Sprint A task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Ask the agent to scaffold the API or dashboard.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request examples and malformed inputs.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Run locally from a clean command.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Sprint A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runs or can be inspected right now?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the agent assume?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is missing?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first defect to investigate?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Instructor roaming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what the agent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one check or known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what would make this unsafe?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Do not solve unless the team is blocked by setup rather than thinking.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Break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Failure is the teaching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class now attacks the first draft so students learn what not to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Tool works only because a notebook variable is still in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Malformed input crashes the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container includes data files or secrets.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Defect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Post one failure your team found.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Mark whether it was agent, data, prompt, model, tool, or claim failure.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Write the evidence that exposed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Repair, harden, and produce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now move from one-off fixing to recurrence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an explicit request schema.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Write smoke tests for good and bad requests.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Document start, stop, rollback, and known failure modes.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Evidence design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claim the artefact makes.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failure that could make the claim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the check, test, trace, source, or review that exposes the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what changed after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State the remaining limit.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Sprint B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reproduce the failure?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show the fix?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Would the failure be caught earlier next time?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will you put in the evidence pack?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evidence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A peer should be able to inspect the artefact and challenge the defence.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run or show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failure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repair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peer asks what still should 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team writes one improvement before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review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you build, and can someone else inspect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the agent, data, model, tool, or answer get wrong?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Defence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Which claim is supported, and what remains out of scope?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Turn activity into assessable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defence note is where students show judgement, not just effort.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468A52"/>
                </a:solidFill>
                <a:latin typeface="Aptos Display"/>
              </a:rPr>
              <a:t>Defence note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This tool is ready for internal use if...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claim the team can defend.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evidence item linked to that claim.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remaining risk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Evidence pack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Screenshot or curl transcript of a successful request.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Rejected bad-input example.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CI run link or local test output.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Runbook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Rubric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Useful 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It runs, can be inspected, or clearly solves the mission within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Agent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team shows what was accepted, rejected, changed, and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Defensible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Claims are specific, evidence-linked, and include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the habit 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leave with one artefact, one failure, and one defensible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Common traps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Shipping a notebook behind a button.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Accepting any JSON because the happy path works.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Writing a runbook that says what should happen but not how to do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 for fast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a simple usage log.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p95 latency and cost-per-run estimate.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After-class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Save the failed or rejected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Complete the AI-use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Submit the defence 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Bring one unresolved question to the next retrieval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Agent work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Give the agent a job, not a wish.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Use this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Goal: expose the Week 3 decision logic as an internal tool.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Inputs: trained artefact, feature list, example requests.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Acceptance: valid request returns an answer; invalid request is rejected; CI runs tests.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No secrets, local paths, or hidden notebook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A - build the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12064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Ask the agent to scaffold the API or dashboard.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Add request examples and malformed inputs.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locally from a clean 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Instructor watchlist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Is the prompt specific enough?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run the artefact?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record what the agent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Failure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Release these after Sprint A. Students must expose the defect before fixing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Tool works only because a notebook variable is still in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Malformed input crashes the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The container includes data files or secrets.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B - repair and harden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2120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Add an explicit request schema.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Write smoke tests for good and bad requests.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Document start, stop, rollback, and known failure modes.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failure is reproducible.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fix is committed.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 future failure would be caught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students should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Screenshot or curl transcript of a successful request.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Rejected bad-input example.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CI run link or local test output.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Runbook entry.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Demo in three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the artefact.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failure you found.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evidence that supports the final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Peer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did the agent get wrong?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would fail next?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should not be used yet?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Watch for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Shipping a notebook behind a button.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Accepting any JSON because the happy path works.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Writing a runbook that says what should happen but not how to do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If your team finishes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Add a simple usage log.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Add p95 latency and cost-per-run estimate.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2412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24128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This tool is ready for internal use if...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914400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E8F1FA"/>
                </a:solidFill>
                <a:latin typeface="Aptos"/>
              </a:rPr>
              <a:t>Write one sentence. It goes into your portfolio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200" b="1">
                <a:solidFill>
                  <a:srgbClr val="1D6FC2"/>
                </a:solidFill>
                <a:latin typeface="Aptos Display"/>
              </a:rPr>
              <a:t>Leave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33272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1E242A"/>
                </a:solidFill>
                <a:latin typeface="Aptos Display"/>
              </a:rPr>
              <a:t>A useful analytics product is boring in the best way: predictable, checked, and recoverable.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5257800"/>
            <a:ext cx="3657600" cy="594360"/>
          </a:xfrm>
          <a:prstGeom prst="round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 / BREAK /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