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mission, not the framework. Tell students what problem they will solve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scene aloud. The scene should make the day's artefact feel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repeated habit. Avoid adding extra process vocabulary unless students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mission brief is the student's contract for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makes the deck self-contained. Point students to the exact files and ask the confirm-first questions before they prompt the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worked example briefly. The goal is not copying the answer; it is copying the evidence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to 15-20 minutes. Each concept must feed the studio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the exercises that match the room pace. Do not skip the defence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Three-hour delivery path.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manage pace. Do not let the concept burst consume studio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outcomes in operational language; students should know what evidence they must produce.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Rotate roles weekly so the fastest coder does not dominate the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Week 1, ask students what makes automation trustworthy in their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scene aloud and let the business pressure create the need for today's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Understand the problem before prompting.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files or point students to the folder. The point is orientation, not detailed analysis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teams answer these aloud or in their work order before using the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Control the agent before it controls the task.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Short teaching, immediate use.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Model the evidence standard.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students to Worked_Examples.md for the full version. Ask what makes it inspectable.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Make students do the thinking before the build.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Build the first version.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slide on screen during the first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Failure is the teaching device.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Repair, harden, and produce evidence.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visible during repair. Push teams to prevent recurrence, not merely patch the visible defect.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Make evidence social.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Turn activity into assessable evidence.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final submission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Make the habit portable.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pre-submission warning, not as a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Stretch work should deepen evidence or operational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compare this to a vague prompt. The work order is the supervision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room. Do not solve too early; ask teams what evidence they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failure playful and concrete. The point is not blame; it is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students from fixing once to preventing recurrence.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as the end-of-lab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best demo is not the smoothest. It is the one with the clearest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pre-mortem before teams submit.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Stretch work should deepen evidence, not add decorative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skip this. It turns activity into reflection and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habit, not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7432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1">
                <a:solidFill>
                  <a:srgbClr val="E8F1FA"/>
                </a:solidFill>
                <a:latin typeface="Aptos Display"/>
              </a:rPr>
              <a:t>ANL559 - AI Agents for Analytics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201168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D98B23"/>
                </a:solidFill>
                <a:latin typeface="Aptos Display"/>
              </a:rPr>
              <a:t>Week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241280" cy="960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ptos Display"/>
              </a:rPr>
              <a:t>Launch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337560"/>
            <a:ext cx="969264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400" b="0">
                <a:solidFill>
                  <a:srgbClr val="E8F1FA"/>
                </a:solidFill>
                <a:latin typeface="Aptos"/>
              </a:rPr>
              <a:t>Demo the system, survive the incident drill, and defend what ships.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800600"/>
            <a:ext cx="196596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4800600"/>
            <a:ext cx="1965960" cy="502920"/>
          </a:xfrm>
          <a:prstGeom prst="roundRect">
            <a:avLst/>
          </a:prstGeom>
          <a:solidFill>
            <a:srgbClr val="BA3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BREAK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19472" y="4800600"/>
            <a:ext cx="196596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DEFEND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8412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00" b="0">
                <a:solidFill>
                  <a:srgbClr val="E8F1FA"/>
                </a:solidFill>
                <a:latin typeface="Aptos"/>
              </a:rPr>
              <a:t>A mission-based alternative course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Why this week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The practical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12064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course about automation should end with an operational decision.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The strongest portfolio is not the flashiest demo; it is the one with evidence under pressure.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Launch review turns six weeks of artefacts into one defensible 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17320"/>
            <a:ext cx="4663440" cy="4297680"/>
          </a:xfrm>
          <a:prstGeom prst="roundRect">
            <a:avLst/>
          </a:prstGeom>
          <a:solidFill>
            <a:srgbClr val="FBF1E2"/>
          </a:solidFill>
          <a:ln>
            <a:solidFill>
              <a:srgbClr val="D9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E242A"/>
                </a:solidFill>
                <a:latin typeface="Aptos Display"/>
              </a:rPr>
              <a:t>The launch committee asks: Can this system go live, and who owns it when something goes wrong?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The studio rhythm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337560" cy="406908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5029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1D6FC2"/>
                </a:solidFill>
                <a:latin typeface="Aptos Display"/>
              </a:rP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274320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0">
                <a:solidFill>
                  <a:srgbClr val="1E242A"/>
                </a:solidFill>
                <a:latin typeface="Aptos"/>
              </a:rPr>
              <a:t>Use the agent to create the first useful version.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337560" cy="406908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5029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BA3B46"/>
                </a:solidFill>
                <a:latin typeface="Aptos Display"/>
              </a:rPr>
              <a:t>BREAK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154680"/>
            <a:ext cx="274320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0">
                <a:solidFill>
                  <a:srgbClr val="1E242A"/>
                </a:solidFill>
                <a:latin typeface="Aptos"/>
              </a:rPr>
              <a:t>Attack the draft with bad data, edge cases, and misuse.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08760"/>
            <a:ext cx="3337560" cy="4069080"/>
          </a:xfrm>
          <a:prstGeom prst="roundRect">
            <a:avLst/>
          </a:prstGeom>
          <a:solidFill>
            <a:srgbClr val="E9F4EB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83080"/>
            <a:ext cx="5029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468A52"/>
                </a:solidFill>
                <a:latin typeface="Aptos Display"/>
              </a:rPr>
              <a:t>DEFEND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154680"/>
            <a:ext cx="274320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0">
                <a:solidFill>
                  <a:srgbClr val="1E242A"/>
                </a:solidFill>
                <a:latin typeface="Aptos"/>
              </a:rPr>
              <a:t>Keep only what survives evidence, tests, and explanation.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Mission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07040" cy="1097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D6FC2"/>
                </a:solidFill>
                <a:latin typeface="Aptos Display"/>
              </a:rPr>
              <a:t>Run a launch review and incident drill for the complete portfolio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4846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You will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484632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Evidence pack, launch checklist, live demo, incident timeline, and defence script.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43200"/>
            <a:ext cx="4846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Success looks like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200400"/>
            <a:ext cx="484632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The artefact runs from a clean checkout.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At least one agent failure is found and fixed.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The final claim has evidence a peer can inspect.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0F8B8D"/>
                </a:solidFill>
                <a:latin typeface="Aptos Display"/>
              </a:rPr>
              <a:t>Start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987552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Use these files and assumptions before asking the agent to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2120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Starter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21208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Weekly artefacts from Weeks 1-5</a:t>
            </a:r>
          </a:p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Starter_Kit/templates/evidence_map_template.md</a:t>
            </a:r>
          </a:p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Portfolio_and_Assessment_Model.md viva prompts</a:t>
            </a:r>
          </a:p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Sample_Data_and_Scenarios.md Week 6 incident injects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Confirm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475488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Which claims are supported by evidence?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What is explicitly out of scope?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Who owns monitoring, rollback, and next action?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Worked example to imitate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987552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Use Worked_Examples.md and Starter_Kit/examples/ for the full artefact.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5778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What strong evidence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57784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Good evidence map: every launch claim links to proof and a remaining limit.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Good incident response: pauses scope, names failed check, assigns owner.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Good recommendation: limited pilot is acceptable when evidence is bounded.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737360"/>
            <a:ext cx="4343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Discuss before 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194560"/>
            <a:ext cx="434340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What makes this example inspectable?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Which claim is supported by evidence?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What limit is still named?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burst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9875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Only the ideas needed for today's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91440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801368"/>
            <a:ext cx="877824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1E242A"/>
                </a:solidFill>
                <a:latin typeface="Aptos Display"/>
              </a:rPr>
              <a:t>Launch checklist as a decision tool.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914400" cy="50292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3035808"/>
            <a:ext cx="877824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1E242A"/>
                </a:solidFill>
                <a:latin typeface="Aptos Display"/>
              </a:rPr>
              <a:t>Incident drill as proof of operational readiness.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97680"/>
            <a:ext cx="914400" cy="50292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4270248"/>
            <a:ext cx="877824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1E242A"/>
                </a:solidFill>
                <a:latin typeface="Aptos Display"/>
              </a:rPr>
              <a:t>Portfolio defence as authorship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D98B23"/>
                </a:solidFill>
                <a:latin typeface="Aptos Display"/>
              </a:rPr>
              <a:t>Guided practice menu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987552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Use the matching file in Exercises/ for timing, instructions, and instructor notes.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Core exercises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48640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map: connect each claim to proof and owner.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Incident drill: respond to drift, bad input, or pressure to overclaim.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Viva circle: defend one agent failure and one changed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737360"/>
            <a:ext cx="4343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Submit by the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194560"/>
            <a:ext cx="434340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One concrete artefact.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One reproduced or plausible failure.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One evidence-linked defence note.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Seminar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Three-hour delivery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Use these slides as pacing support: set context, practise, build, break, repair, defend.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180-minute run of show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0-5: retrieval link and setup check.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5-15: cold open and stakeholder pressure.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15-30: demo target and success criteria.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30-50: concept burst with worked example.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50-80: guided practice and prompt clinic.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26279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50799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80-115: Sprint A builds the first version.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184648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16636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115-135: failure cards and defect exposure.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843016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82472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135-165: Sprint B repairs and evidence pack.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6501383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648309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165-180: peer demo, defence note, exit ticket.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Learning outcomes for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the first version of: Evidence pack, launch checklist, live demo, incident timeline, and defence script.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Break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Expose at least one agent, data, prompt, model, or workflow failure.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Defend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Explain what can be trusted, what was rejected, and what still needs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Team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Driver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Operates the repo, files, agent, notebook, tool, or spreadsheet.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Reviewer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Reads outputs, checks assumptions, challenges claims, and watches for defects.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Reporter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Maintains the evidence pack, AI-use log, and defence note.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6856A6"/>
                </a:solidFill>
                <a:latin typeface="Aptos Display"/>
              </a:rPr>
              <a:t>Retrieval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did we build, break, and defend last week?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habit matters again today?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previous artefact becomes input for this mission?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D6FC2"/>
                </a:solidFill>
                <a:latin typeface="Aptos Display"/>
              </a:rPr>
              <a:t>Cold open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The launch committee asks: Can this system go live, and who owns it when something goes wrong?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go wrong if the team trusted the agent too early?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would make the stakeholder comfortable?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Stakeholder lens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stakeholder and the decision they must make.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artefact they expect to receive.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risk if the artefact is wrong.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evidence that would reduce that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what should be out of scope today.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What makes this an AI-agent course?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Delegation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delegate bounded work to the agent instead of doing everything manually.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Supervision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inspect, test, reject, and repair agent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Accountability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defend the final artefact as human analysts, not as agent operators.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Context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Understand the problem before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should know the files, definitions, stakeholder, and acceptance criteria before the agent starts.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Starter file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Weekly artefacts from Weeks 1-5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Starter_Kit/templates/evidence_map_template.md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Portfolio_and_Assessment_Model.md viva prompts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Sample_Data_and_Scenarios.md Week 6 incident injects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D98B23"/>
                </a:solidFill>
                <a:latin typeface="Aptos Display"/>
              </a:rPr>
              <a:t>Confirm before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claims are supported by evidence?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explicitly out of scope?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Who owns monitoring, rollback, and next action?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Good artefact, weak artefact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Good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Runs or can be inspected, names assumptions, and includes 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Weak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Looks polished but hides definitions, dropped records, leakage, or unsupported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Repairable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Imperfect first draft with visible evidence and a clear next fix.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Prompt Clinic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Control the agent before it controls the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practise turning vague requests into supervised work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Weak prompt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Too broad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agent chooses the task boundary and success criteria.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Too trusting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agent chooses definitions, joins, thresholds, or causal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Too vague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output cannot be checked because no acceptance criteria were given.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Strong work-order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Business goal: what decision or workflow does this support?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Inputs: files, tables, definitions, sources, or prior artefacts.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Task: the bounded work the agent should perform.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Acceptance criteria: what must be true before humans accept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Constraints: what the agent must not invent, drop, infer, or overclaim.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26279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50799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Output format: code, table, memo, test, checklist, or tool.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6856A6"/>
                </a:solidFill>
                <a:latin typeface="Aptos Display"/>
              </a:rPr>
              <a:t>Activity 1 - prompt rewrite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Evidence map: connect each claim to proof and owner.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revised work order.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acceptance criterion.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constraint that prevents a known failure.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6856A6"/>
                </a:solidFill>
                <a:latin typeface="Aptos Display"/>
              </a:rPr>
              <a:t>Prompt rewrite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word in the prompt reduced ambiguity?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acceptance criterion can actually fail?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constraint protects the stakeholder?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Concept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Short teaching, immediate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Use these concept slides to equip the build, not to turn the seminar into a lecture.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1: Launch checklist as a decision tool.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How this idea changes today's artefact: Evidence pack, launch checklist, live demo, incident timeline, and defence script.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Failure prevented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Connect it to one failure card: Drift alert fires during launch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must show: Launch checklist.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D6FC2"/>
                </a:solidFill>
                <a:latin typeface="Aptos Display"/>
              </a:rPr>
              <a:t>Concept 1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the agent do if this concept were ignored?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a strong student artefact include?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smallest evidence item that proves the concept was 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2: Incident drill as proof of operational readiness.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How this idea changes today's artefact: Evidence pack, launch checklist, live demo, incident timeline, and defence script.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Failure prevented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Connect it to one failure card: Stakeholder asks for a decision outside the system's scope.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must show: Incident timeline.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0F8B8D"/>
                </a:solidFill>
                <a:latin typeface="Aptos Display"/>
              </a:rPr>
              <a:t>Concept 2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the agent do if this concept were ignored?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a strong student artefact include?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smallest evidence item that proves the concept was 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3: Portfolio defence as authorship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How this idea changes today's artefact: Evidence pack, launch checklist, live demo, incident timeline, and defence script.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Failure prevented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Connect it to one failure card: Bad input reveals a missing validation rule.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must show: Evidence map linking claims to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6856A6"/>
                </a:solidFill>
                <a:latin typeface="Aptos Display"/>
              </a:rPr>
              <a:t>Concept 3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the agent do if this concept were ignored?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a strong student artefact include?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smallest evidence item that proves the concept was 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Model the evidence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should imitate the structure of evidence, not copy the example.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Worked example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400">
                <a:solidFill>
                  <a:srgbClr val="1E242A"/>
                </a:solidFill>
                <a:latin typeface="Aptos"/>
              </a:rPr>
              <a:t>Good evidence map: every launch claim links to proof and a remaining limit.</a:t>
            </a:r>
          </a:p>
          <a:p>
            <a:pPr/>
            <a:r>
              <a:rPr sz="2400">
                <a:solidFill>
                  <a:srgbClr val="1E242A"/>
                </a:solidFill>
                <a:latin typeface="Aptos"/>
              </a:rPr>
              <a:t>Good incident response: pauses scope, names failed check, assigns owner.</a:t>
            </a:r>
          </a:p>
          <a:p>
            <a:pPr/>
            <a:r>
              <a:rPr sz="2400">
                <a:solidFill>
                  <a:srgbClr val="1E242A"/>
                </a:solidFill>
                <a:latin typeface="Aptos"/>
              </a:rPr>
              <a:t>Good recommendation: limited pilot is acceptable when evidence is bounded.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468A52"/>
                </a:solidFill>
                <a:latin typeface="Aptos Display"/>
              </a:rPr>
              <a:t>Worked example critique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claim is being made?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Where is the evidence?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limit is named?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you ask before accepting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Guided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Make students do the thinking before the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The goal is not coverage. The goal is a better first sprint.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Evidence map: connect each claim to proof and owner.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visible table, prompt, test, note, or decision.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assumption written down.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peer or instructor question answered.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1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was easy for the agent?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decision had to stay human?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changed the team's mind?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Incident drill: respond to drift, bad input, or pressure to overclaim.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visible table, prompt, test, note, or decision.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assumption written down.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peer or instructor question answered.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2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was easy for the agent?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decision had to stay human?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changed the team's mind?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18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Viva circle: defend one agent failure and one changed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visible table, prompt, test, note, or decision.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assumption written down.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peer or instructor question answered.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3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was easy for the agent?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decision had to stay human?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changed the team's mind?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Sprint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Build the first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Time-box the build so students have something real to attack.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Sprint A operating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Start from the work order, not a blank chat.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Keep the agent output visible and reviewable.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Run the artefact before improving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Write down the first defect or uncertainty.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Commit or save the first version before repair.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Sprint A task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Assemble the evidence pack.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Write the launch recommendation.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Prepare a five-minute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D6FC2"/>
                </a:solidFill>
                <a:latin typeface="Aptos Display"/>
              </a:rPr>
              <a:t>Sprint A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runs or can be inspected right now?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did the agent assume?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is missing?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first defect to investigate?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Instructor roaming 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show me the artefact.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show me what the agent changed.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show me one check or known value.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what would make this unsafe?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Do not solve unless the team is blocked by setup rather than thinking.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3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Break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Failure is the teaching 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The class now attacks the first draft so students learn what not to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BA3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Failure card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Defect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Drift alert fires during launch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How to expose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a check, adversarial example, missing-value case, source comparison, or peer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What to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Save the failing output before repairing it. This becomes portfolio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Failure card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Defect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Stakeholder asks for a decision outside the system's scope.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How to expose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a check, adversarial example, missing-value case, source comparison, or peer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What to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Save the failing output before repairing it. This becomes portfolio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Failure card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Defect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Bad input reveals a missing validation rule.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How to expose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a check, adversarial example, missing-value case, source comparison, or peer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What to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Save the failing output before repairing it. This becomes portfolio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BA3B46"/>
                </a:solidFill>
                <a:latin typeface="Aptos Display"/>
              </a:rPr>
              <a:t>Defect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Post one failure your team found.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Mark whether it was agent, data, prompt, model, tool, or claim failure.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Write the evidence that exposed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Sprint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Repair, harden, and produce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now move from one-off fixing to recurrence prevention.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Repair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Use the runbook instead of improvising.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State scope limits and next actions.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Patch the validation rule and record the incident.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Evidence design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claim the artefact makes.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failure that could make the claim false.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Show the check, test, trace, source, or review that exposes the failure.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Show what changed after repair.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State the remaining limit.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468A52"/>
                </a:solidFill>
                <a:latin typeface="Aptos Display"/>
              </a:rPr>
              <a:t>Sprint B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Can you reproduce the failure?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Can you show the fix?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Would the failure be caught earlier next time?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will you put in the evidence pack?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Make evidence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A peer should be able to inspect the artefact and challenge the defence.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Peer demo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run or show the artefact.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show the failure found.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show the repair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peer asks what still should not be trusted.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team writes one improvement before submission.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Peer review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Artefact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What did you build, and can someone else inspect 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What did the agent, data, model, tool, or answer get wrong?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Defence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Which claim is supported, and what remains out of scope?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Defence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Turn activity into assessable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The defence note is where students show judgement, not just effort.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468A52"/>
                </a:solidFill>
                <a:latin typeface="Aptos Display"/>
              </a:rPr>
              <a:t>Defence note writing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What ships now, what waits, and who owns the next action?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claim the team can defend.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evidence item linked to that claim.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remaining risk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Evidence pack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Launch checklist.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Incident timeline.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Evidence map linking claims to files.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Final defence script.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Rubric lens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Useful artefact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It runs, can be inspected, or clearly solves the mission within scope.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Agent supervision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team shows what was accepted, rejected, changed, and verified.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Defensible judgement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Claims are specific, evidence-linked, and include limits.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Make the habit portable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should leave with one artefact, one failure, and one defensible claim.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Common traps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Turning the final demo into a feature tour.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Hiding weaknesses instead of owning residual risk.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Letting the agent write the defence in a voice the student cannot explain.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Stretch options for fast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Run a cross-team red-team review.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Record a two-minute executive launch recommendation.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After-class handoff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Commit or save the artefact.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Save the failed or rejected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Complete the AI-use 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Submit the defence note.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Bring one unresolved question to the next retrieval link.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Agent work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87552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Give the agent a job, not a wish.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Use this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24128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Goal: prepare a launch recommendation for the analytics automation system.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Inputs: all weekly artefacts, known risks, evaluation results, runbook.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Acceptance: clear ship/no-ship decision, owner, rollback path, and evidence links.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Do not overclaim beyond the tested scope.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1E242A"/>
                </a:solidFill>
                <a:latin typeface="Aptos Display"/>
              </a:rPr>
              <a:t>Studio sprint A - build the first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120640" cy="3749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Assemble the evidence pack.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Write the launch recommendation.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Prepare a five-minute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Instructor watchlist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3749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Is the prompt specific enough?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Did the team run the artefact?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Did the team record what the agent changed?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BA3B46"/>
                </a:solidFill>
                <a:latin typeface="Aptos Display"/>
              </a:rPr>
              <a:t>Failure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69848"/>
            <a:ext cx="9875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Release these after Sprint A. Students must expose the defect before fixing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743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Card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788920" cy="1783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1">
                <a:solidFill>
                  <a:srgbClr val="1E242A"/>
                </a:solidFill>
                <a:latin typeface="Aptos Display"/>
              </a:rPr>
              <a:t>Drift alert fires during launch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148840"/>
            <a:ext cx="2743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Card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788920"/>
            <a:ext cx="2788920" cy="1783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1">
                <a:solidFill>
                  <a:srgbClr val="1E242A"/>
                </a:solidFill>
                <a:latin typeface="Aptos Display"/>
              </a:rPr>
              <a:t>Stakeholder asks for a decision outside the system's scope.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148840"/>
            <a:ext cx="2743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Card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788920"/>
            <a:ext cx="2788920" cy="1783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1">
                <a:solidFill>
                  <a:srgbClr val="1E242A"/>
                </a:solidFill>
                <a:latin typeface="Aptos Display"/>
              </a:rPr>
              <a:t>Bad input reveals a missing validation rule.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1E242A"/>
                </a:solidFill>
                <a:latin typeface="Aptos Display"/>
              </a:rPr>
              <a:t>Studio sprint B - repair and harden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2120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Repair moves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2120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Use the runbook instead of improvising.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State scope limits and next actions.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Patch the validation rule and record the incident.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Definition of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The failure is reproducible.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The fix is committed.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A future failure would be caught earlier.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468A52"/>
                </a:solidFill>
                <a:latin typeface="Aptos Display"/>
              </a:rPr>
              <a:t>Evidence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What students should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2412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Launch checklist.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Incident timeline.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Evidence map linking claims to files.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Final defence script.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Peer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Demo in three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Run the artefact.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Show the failure you found.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Show the evidence that supports the final claim.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Peer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What did the agent get wrong?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What would fail next?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What should not be used yet?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D98B23"/>
                </a:solidFill>
                <a:latin typeface="Aptos Display"/>
              </a:rPr>
              <a:t>Common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Watch for these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Turning the final demo into a feature tour.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Hiding weaknesses instead of owning residual risk.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Letting the agent write the defence in a voice the student cannot explain.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If your team finishes 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Stretch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24128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Run a cross-team red-team review.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Record a two-minute executive launch recommendation.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24128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D98B23"/>
                </a:solidFill>
                <a:latin typeface="Aptos Display"/>
              </a:rPr>
              <a:t>Exit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241280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What ships now, what waits, and who owns the next action?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60520"/>
            <a:ext cx="9144000" cy="685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0">
                <a:solidFill>
                  <a:srgbClr val="E8F1FA"/>
                </a:solidFill>
                <a:latin typeface="Aptos"/>
              </a:rPr>
              <a:t>Write one sentence. It goes into your portfolio evidence.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200" b="1">
                <a:solidFill>
                  <a:srgbClr val="1D6FC2"/>
                </a:solidFill>
                <a:latin typeface="Aptos Display"/>
              </a:rPr>
              <a:t>Leave with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332720" cy="1645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3600" b="1">
                <a:solidFill>
                  <a:srgbClr val="1E242A"/>
                </a:solidFill>
                <a:latin typeface="Aptos Display"/>
              </a:rPr>
              <a:t>The agent helped build it. The human decides whether it is ready.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5257800"/>
            <a:ext cx="3657600" cy="594360"/>
          </a:xfrm>
          <a:prstGeom prst="round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BUILD / BREAK / DEFEND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