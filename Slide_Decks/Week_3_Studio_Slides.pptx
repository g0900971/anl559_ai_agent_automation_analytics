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mission, not the framework. Tell students what problem they will solve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scene aloud. The scene should make the day's artefact feel necessary.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repeated habit. Avoid adding extra process vocabulary unless students need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mission brief is the student's contract for the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makes the deck self-contained. Point students to the exact files and ask the confirm-first questions before they prompt the agent.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the worked example briefly. The goal is not copying the answer; it is copying the evidence structure.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this to 15-20 minutes. Each concept must feed the studio sprint.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Pick the exercises that match the room pace. Do not skip the defence note.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 into Three-hour delivery path. Keep the purpose visible before moving into tasks.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slide to manage pace. Do not let the concept burst consume studio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outcomes in operational language; students should know what evidence they must produce.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Rotate roles weekly so the fastest coder does not dominate the learning.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Week 1, ask students what makes automation trustworthy in their own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scene aloud and let the business pressure create the need for today's concept.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steps quickly, then move students into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slide to make the structure concrete before students begin.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 into Understand the problem before prompting. Keep the purpose visible before moving into tasks.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the files or point students to the folder. The point is orientation, not detailed analysis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Make teams answer these aloud or in their work order before using the agent.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slide to make the structure concrete before students begin.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 into Control the agent before it controls the task. Keep the purpose visible before moving into tasks.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slide to make the structure concrete before students begin.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steps quickly, then move students into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 the timer. The output is more important than finishing every possible variation.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the debrief short. Pull out one strong example and one useful mistake.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 into Short teaching, immediate use. Keep the purpose visible before moving into tasks.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slide to make the structure concrete before students begin.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students 90 seconds to think, then collect short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slide to make the structure concrete before students begin.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students 90 seconds to think, then collect short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slide to make the structure concrete before students begin.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students 90 seconds to think, then collect short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 into Model the evidence standard. Keep the purpose visible before moving into tasks.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students to Worked_Examples.md for the full version. Ask what makes it inspectable.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students 90 seconds to think, then collect short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 into Make students do the thinking before the build. Keep the purpose visible before moving into tasks.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 the timer. The output is more important than finishing every possible variation.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the debrief short. Pull out one strong example and one useful mistake.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 the timer. The output is more important than finishing every possible variation.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the debrief short. Pull out one strong example and one useful mistake.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 the timer. The output is more important than finishing every possible variation.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the debrief short. Pull out one strong example and one useful mistake.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 into Build the first version. Keep the purpose visible before moving into tasks.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steps quickly, then move students into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Leave this slide on screen during the first sprint.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students 90 seconds to think, then collect short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steps quickly, then move students into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 into Failure is the teaching device. Keep the purpose visible before moving into tasks.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slide to make the structure concrete before students begin.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slide to make the structure concrete before students begin.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slide to make the structure concrete before students begin.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students 90 seconds to think, then collect short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 into Repair, harden, and produce evidence. Keep the purpose visible before moving into tasks.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Leave this visible during repair. Push teams to prevent recurrence, not merely patch the visible defect.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steps quickly, then move students into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students 90 seconds to think, then collect short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 into Make evidence social. Keep the purpose visible before moving into tasks.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steps quickly, then move students into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slide to make the structure concrete before students begin.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 into Turn activity into assessable evidence. Keep the purpose visible before moving into tasks.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 the timer. The output is more important than finishing every possible variation.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as a final submission checklist.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slide to make the structure concrete before students begin.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 into Make the habit portable. Keep the purpose visible before moving into tasks.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as a pre-submission warning, not as a lecture.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Stretch work should deepen evidence or operational 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steps quickly, then move students into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Have students compare this to a vague prompt. The work order is the supervision move.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room. Do not solve too early; ask teams what evidence they have.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Make failure playful and concrete. The point is not blame; it is calibration.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Push students from fixing once to preventing recurrence.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slide as the end-of-lab checklist.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best demo is not the smoothest. It is the one with the clearest judgement.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as a pre-mortem before teams submit.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Stretch work should deepen evidence, not add decorative features.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skip this. It turns activity into reflection and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the habit, not the tool.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2743200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400" b="1">
                <a:solidFill>
                  <a:srgbClr val="E8F1FA"/>
                </a:solidFill>
                <a:latin typeface="Aptos Display"/>
              </a:rPr>
              <a:t>ANL559 - AI Agents for Analytics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2011680" cy="5029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800" b="1">
                <a:solidFill>
                  <a:srgbClr val="D98B23"/>
                </a:solidFill>
                <a:latin typeface="Aptos Display"/>
              </a:rPr>
              <a:t>Week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10241280" cy="9601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5200" b="1">
                <a:solidFill>
                  <a:srgbClr val="FFFFFF"/>
                </a:solidFill>
                <a:latin typeface="Aptos Display"/>
              </a:rPr>
              <a:t>Limited Retention Budget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337560"/>
            <a:ext cx="9692640" cy="7772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400" b="0">
                <a:solidFill>
                  <a:srgbClr val="E8F1FA"/>
                </a:solidFill>
                <a:latin typeface="Aptos"/>
              </a:rPr>
              <a:t>Build a decision model that respects money, leakage, and operational limits.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4800600"/>
            <a:ext cx="1965960" cy="502920"/>
          </a:xfrm>
          <a:prstGeom prst="roundRect">
            <a:avLst/>
          </a:prstGeom>
          <a:solidFill>
            <a:srgbClr val="1D6F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BUILD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88920" y="4800600"/>
            <a:ext cx="1965960" cy="502920"/>
          </a:xfrm>
          <a:prstGeom prst="roundRect">
            <a:avLst/>
          </a:prstGeom>
          <a:solidFill>
            <a:srgbClr val="BA3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BREAK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19472" y="4800600"/>
            <a:ext cx="1965960" cy="502920"/>
          </a:xfrm>
          <a:prstGeom prst="roundRect">
            <a:avLst/>
          </a:prstGeom>
          <a:solidFill>
            <a:srgbClr val="468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DEFEND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989320"/>
            <a:ext cx="8412480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300" b="0">
                <a:solidFill>
                  <a:srgbClr val="E8F1FA"/>
                </a:solidFill>
                <a:latin typeface="Aptos"/>
              </a:rPr>
              <a:t>A mission-based alternative course design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E242A"/>
                </a:solidFill>
                <a:latin typeface="Aptos Display"/>
              </a:rPr>
              <a:t>Why this week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512064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1D6FC2"/>
                </a:solidFill>
                <a:latin typeface="Aptos Display"/>
              </a:rPr>
              <a:t>The practical 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74519"/>
            <a:ext cx="5120640" cy="3840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100">
                <a:solidFill>
                  <a:srgbClr val="1E242A"/>
                </a:solidFill>
                <a:latin typeface="Aptos"/>
              </a:rPr>
              <a:t>A high score is not a decision.</a:t>
            </a:r>
          </a:p>
          <a:p>
            <a:pPr/>
            <a:r>
              <a:rPr sz="2100">
                <a:solidFill>
                  <a:srgbClr val="1E242A"/>
                </a:solidFill>
                <a:latin typeface="Aptos"/>
              </a:rPr>
              <a:t>A limited budget forces the model to answer: who gets the next dollar?</a:t>
            </a:r>
          </a:p>
          <a:p>
            <a:pPr/>
            <a:r>
              <a:rPr sz="2100">
                <a:solidFill>
                  <a:srgbClr val="1E242A"/>
                </a:solidFill>
                <a:latin typeface="Aptos"/>
              </a:rPr>
              <a:t>The best teaching moment is a model that looks brilliant because it cheated.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417320"/>
            <a:ext cx="4663440" cy="4297680"/>
          </a:xfrm>
          <a:prstGeom prst="roundRect">
            <a:avLst/>
          </a:prstGeom>
          <a:solidFill>
            <a:srgbClr val="FBF1E2"/>
          </a:solidFill>
          <a:ln>
            <a:solidFill>
              <a:srgbClr val="D98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1E242A"/>
                </a:solidFill>
                <a:latin typeface="Aptos Display"/>
              </a:rPr>
              <a:t>The business can afford 8,000 retention offers, not 80,000. A model is only useful if it chooses better than a simple rule.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E242A"/>
                </a:solidFill>
                <a:latin typeface="Aptos Display"/>
              </a:rPr>
              <a:t>The studio rhythm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08760"/>
            <a:ext cx="3337560" cy="4069080"/>
          </a:xfrm>
          <a:prstGeom prst="roundRect">
            <a:avLst/>
          </a:prstGeom>
          <a:solidFill>
            <a:srgbClr val="E8F1FA"/>
          </a:solidFill>
          <a:ln>
            <a:solidFill>
              <a:srgbClr val="1D6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83080"/>
            <a:ext cx="502920" cy="4114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1D6FC2"/>
                </a:solidFill>
                <a:latin typeface="Aptos Display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31720"/>
            <a:ext cx="274320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800" b="1">
                <a:solidFill>
                  <a:srgbClr val="1D6FC2"/>
                </a:solidFill>
                <a:latin typeface="Aptos Display"/>
              </a:rPr>
              <a:t>BUILD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154680"/>
            <a:ext cx="2743200" cy="1463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000" b="0">
                <a:solidFill>
                  <a:srgbClr val="1E242A"/>
                </a:solidFill>
                <a:latin typeface="Aptos"/>
              </a:rPr>
              <a:t>Use the agent to create the first useful version.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508760"/>
            <a:ext cx="3337560" cy="4069080"/>
          </a:xfrm>
          <a:prstGeom prst="roundRect">
            <a:avLst/>
          </a:prstGeom>
          <a:solidFill>
            <a:srgbClr val="FAE9E9"/>
          </a:solidFill>
          <a:ln>
            <a:solidFill>
              <a:srgbClr val="BA3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783080"/>
            <a:ext cx="502920" cy="4114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BA3B46"/>
                </a:solidFill>
                <a:latin typeface="Aptos Display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331720"/>
            <a:ext cx="274320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800" b="1">
                <a:solidFill>
                  <a:srgbClr val="BA3B46"/>
                </a:solidFill>
                <a:latin typeface="Aptos Display"/>
              </a:rPr>
              <a:t>BREAK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3154680"/>
            <a:ext cx="2743200" cy="1463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000" b="0">
                <a:solidFill>
                  <a:srgbClr val="1E242A"/>
                </a:solidFill>
                <a:latin typeface="Aptos"/>
              </a:rPr>
              <a:t>Attack the draft with bad data, edge cases, and misuse.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508760"/>
            <a:ext cx="3337560" cy="4069080"/>
          </a:xfrm>
          <a:prstGeom prst="roundRect">
            <a:avLst/>
          </a:prstGeom>
          <a:solidFill>
            <a:srgbClr val="E9F4EB"/>
          </a:solidFill>
          <a:ln>
            <a:solidFill>
              <a:srgbClr val="468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200" y="1783080"/>
            <a:ext cx="502920" cy="4114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468A52"/>
                </a:solidFill>
                <a:latin typeface="Aptos Display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2331720"/>
            <a:ext cx="274320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800" b="1">
                <a:solidFill>
                  <a:srgbClr val="468A52"/>
                </a:solidFill>
                <a:latin typeface="Aptos Display"/>
              </a:rPr>
              <a:t>DEFEND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3154680"/>
            <a:ext cx="2743200" cy="1463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000" b="0">
                <a:solidFill>
                  <a:srgbClr val="1E242A"/>
                </a:solidFill>
                <a:latin typeface="Aptos"/>
              </a:rPr>
              <a:t>Keep only what survives evidence, tests, and explanation.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E242A"/>
                </a:solidFill>
                <a:latin typeface="Aptos Display"/>
              </a:rPr>
              <a:t>Mission 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07040" cy="10972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000" b="1">
                <a:solidFill>
                  <a:srgbClr val="1D6FC2"/>
                </a:solidFill>
                <a:latin typeface="Aptos Display"/>
              </a:rPr>
              <a:t>Use the agent to build baselines, a candidate model, and a cost-aware decision memo.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43200"/>
            <a:ext cx="484632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0F8B8D"/>
                </a:solidFill>
                <a:latin typeface="Aptos Display"/>
              </a:rPr>
              <a:t>You will build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4846320" cy="1920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300">
                <a:solidFill>
                  <a:srgbClr val="1E242A"/>
                </a:solidFill>
                <a:latin typeface="Aptos"/>
              </a:rPr>
              <a:t>Baseline comparison, leakage audit, threshold rationale, and one-page decision memo.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743200"/>
            <a:ext cx="484632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468A52"/>
                </a:solidFill>
                <a:latin typeface="Aptos Display"/>
              </a:rPr>
              <a:t>Success looks like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3200400"/>
            <a:ext cx="4846320" cy="1920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100">
                <a:solidFill>
                  <a:srgbClr val="1E242A"/>
                </a:solidFill>
                <a:latin typeface="Aptos"/>
              </a:rPr>
              <a:t>The artefact runs from a clean checkout.</a:t>
            </a:r>
          </a:p>
          <a:p>
            <a:pPr/>
            <a:r>
              <a:rPr sz="2100">
                <a:solidFill>
                  <a:srgbClr val="1E242A"/>
                </a:solidFill>
                <a:latin typeface="Aptos"/>
              </a:rPr>
              <a:t>At least one agent failure is found and fixed.</a:t>
            </a:r>
          </a:p>
          <a:p>
            <a:pPr/>
            <a:r>
              <a:rPr sz="2100">
                <a:solidFill>
                  <a:srgbClr val="1E242A"/>
                </a:solidFill>
                <a:latin typeface="Aptos"/>
              </a:rPr>
              <a:t>The final claim has evidence a peer can inspect.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5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0F8B8D"/>
                </a:solidFill>
                <a:latin typeface="Aptos Display"/>
              </a:rPr>
              <a:t>Start here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78992"/>
            <a:ext cx="9875520" cy="34747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5C6670"/>
                </a:solidFill>
                <a:latin typeface="Aptos"/>
              </a:rPr>
              <a:t>Use these files and assumptions before asking the agent to build.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521208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0F8B8D"/>
                </a:solidFill>
                <a:latin typeface="Aptos Display"/>
              </a:rPr>
              <a:t>Starter materials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5212080" cy="397763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1900">
                <a:solidFill>
                  <a:srgbClr val="1E242A"/>
                </a:solidFill>
                <a:latin typeface="Aptos"/>
              </a:rPr>
              <a:t>Starter_Kit/sample_data/week3_retention_training.csv</a:t>
            </a:r>
          </a:p>
          <a:p>
            <a:pPr/>
            <a:r>
              <a:rPr sz="1900">
                <a:solidFill>
                  <a:srgbClr val="1E242A"/>
                </a:solidFill>
                <a:latin typeface="Aptos"/>
              </a:rPr>
              <a:t>Sample_Data_and_Scenarios.md cost assumptions</a:t>
            </a:r>
          </a:p>
          <a:p>
            <a:pPr/>
            <a:r>
              <a:rPr sz="1900">
                <a:solidFill>
                  <a:srgbClr val="1E242A"/>
                </a:solidFill>
                <a:latin typeface="Aptos"/>
              </a:rPr>
              <a:t>Starter_Kit/templates/defence_note_template.md</a:t>
            </a:r>
          </a:p>
          <a:p>
            <a:pPr/>
            <a:r>
              <a:rPr sz="1900">
                <a:solidFill>
                  <a:srgbClr val="1E242A"/>
                </a:solidFill>
                <a:latin typeface="Aptos"/>
              </a:rPr>
              <a:t>Portfolio_and_Assessment_Model.md rubric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737360"/>
            <a:ext cx="475488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D98B23"/>
                </a:solidFill>
                <a:latin typeface="Aptos Display"/>
              </a:rPr>
              <a:t>Confirm first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194560"/>
            <a:ext cx="4754880" cy="397763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What decision will the model change?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Which features are unavailable at decision time?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What capacity or budget limit sets the threshold?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E242A"/>
                </a:solidFill>
                <a:latin typeface="Aptos Display"/>
              </a:rPr>
              <a:t>Worked example to imitate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78992"/>
            <a:ext cx="9875520" cy="34747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5C6670"/>
                </a:solidFill>
                <a:latin typeface="Aptos"/>
              </a:rPr>
              <a:t>Use Worked_Examples.md and Starter_Kit/examples/ for the full artefact.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557784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468A52"/>
                </a:solidFill>
                <a:latin typeface="Aptos Display"/>
              </a:rPr>
              <a:t>What strong evidence looks like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5577840" cy="3886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Good leakage audit: excludes target and post-offer response.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Good baseline table: compares model with simple business rules.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Good decision memo: ties threshold to cost, capacity, and limits.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20840" y="1737360"/>
            <a:ext cx="434340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6856A6"/>
                </a:solidFill>
                <a:latin typeface="Aptos Display"/>
              </a:rPr>
              <a:t>Discuss before building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20840" y="2194560"/>
            <a:ext cx="4343400" cy="3886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What makes this example inspectable?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Which claim is supported by evidence?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What limit is still named?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E242A"/>
                </a:solidFill>
                <a:latin typeface="Aptos Display"/>
              </a:rPr>
              <a:t>Concept burst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70432"/>
            <a:ext cx="987552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5C6670"/>
                </a:solidFill>
                <a:latin typeface="Aptos"/>
              </a:rPr>
              <a:t>Only the ideas needed for today's build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914400" cy="502920"/>
          </a:xfrm>
          <a:prstGeom prst="roundRect">
            <a:avLst/>
          </a:prstGeom>
          <a:solidFill>
            <a:srgbClr val="1D6F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5960" y="1801368"/>
            <a:ext cx="8778240" cy="6400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700" b="1">
                <a:solidFill>
                  <a:srgbClr val="1E242A"/>
                </a:solidFill>
                <a:latin typeface="Aptos Display"/>
              </a:rPr>
              <a:t>Baselines before models.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063240"/>
            <a:ext cx="914400" cy="502920"/>
          </a:xfrm>
          <a:prstGeom prst="round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5960" y="3035808"/>
            <a:ext cx="8778240" cy="6400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700" b="1">
                <a:solidFill>
                  <a:srgbClr val="1E242A"/>
                </a:solidFill>
                <a:latin typeface="Aptos Display"/>
              </a:rPr>
              <a:t>Leakage audit before celebration.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297680"/>
            <a:ext cx="914400" cy="502920"/>
          </a:xfrm>
          <a:prstGeom prst="roundRect">
            <a:avLst/>
          </a:prstGeom>
          <a:solidFill>
            <a:srgbClr val="68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4270248"/>
            <a:ext cx="8778240" cy="6400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700" b="1">
                <a:solidFill>
                  <a:srgbClr val="1E242A"/>
                </a:solidFill>
                <a:latin typeface="Aptos Display"/>
              </a:rPr>
              <a:t>Threshold as a business decision.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D98B23"/>
                </a:solidFill>
                <a:latin typeface="Aptos Display"/>
              </a:rPr>
              <a:t>Guided practice menu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78992"/>
            <a:ext cx="9875520" cy="34747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5C6670"/>
                </a:solidFill>
                <a:latin typeface="Aptos"/>
              </a:rPr>
              <a:t>Use the matching file in Exercises/ for timing, instructions, and instructor notes.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548640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D98B23"/>
                </a:solidFill>
                <a:latin typeface="Aptos Display"/>
              </a:rPr>
              <a:t>Core exercises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5486400" cy="3886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Decision frame: action, eligibility, capacity, cost, and value.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Leakage hunt: label every column by decision-time availability.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Threshold economics: choose a top-N or cutoff policy.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20840" y="1737360"/>
            <a:ext cx="434340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1D6FC2"/>
                </a:solidFill>
                <a:latin typeface="Aptos Display"/>
              </a:rPr>
              <a:t>Submit by the 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20840" y="2194560"/>
            <a:ext cx="4343400" cy="3886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One concrete artefact.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One reproduced or plausible failure.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One evidence-linked defence note.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256032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500" b="1">
                <a:solidFill>
                  <a:srgbClr val="E8F1FA"/>
                </a:solidFill>
                <a:latin typeface="Aptos Display"/>
              </a:rPr>
              <a:t>Seminar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74519"/>
            <a:ext cx="10241280" cy="9144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Aptos Display"/>
              </a:rPr>
              <a:t>Three-hour delivery path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246120"/>
            <a:ext cx="9875520" cy="7772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0">
                <a:solidFill>
                  <a:srgbClr val="E8F1FA"/>
                </a:solidFill>
                <a:latin typeface="Aptos"/>
              </a:rPr>
              <a:t>Use these slides as pacing support: set context, practise, build, break, repair, defend.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4892040"/>
            <a:ext cx="2011680" cy="502920"/>
          </a:xfrm>
          <a:prstGeom prst="round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Week 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E242A"/>
                </a:solidFill>
                <a:latin typeface="Aptos Display"/>
              </a:rPr>
              <a:t>180-minute run of show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234440"/>
            <a:ext cx="640080" cy="393192"/>
          </a:xfrm>
          <a:prstGeom prst="round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" y="1216152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0-5: retrieval link and setup check.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92808"/>
            <a:ext cx="640080" cy="393192"/>
          </a:xfrm>
          <a:prstGeom prst="round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874520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5-15: cold open and stakeholder pressure.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551176"/>
            <a:ext cx="640080" cy="393192"/>
          </a:xfrm>
          <a:prstGeom prst="round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532888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15-30: demo target and success criteria.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209544"/>
            <a:ext cx="640080" cy="393192"/>
          </a:xfrm>
          <a:prstGeom prst="round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3191256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30-50: concept burst with worked example.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867912"/>
            <a:ext cx="640080" cy="393192"/>
          </a:xfrm>
          <a:prstGeom prst="round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3849624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50-80: guided practice and prompt clinic.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526279"/>
            <a:ext cx="640080" cy="393192"/>
          </a:xfrm>
          <a:prstGeom prst="round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4507992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80-115: Sprint A builds the first version.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5184648"/>
            <a:ext cx="640080" cy="393192"/>
          </a:xfrm>
          <a:prstGeom prst="round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5166360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115-135: failure cards and defect exposure.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5843016"/>
            <a:ext cx="640080" cy="393192"/>
          </a:xfrm>
          <a:prstGeom prst="round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5824728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135-165: Sprint B repairs and evidence pack.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6501383"/>
            <a:ext cx="640080" cy="393192"/>
          </a:xfrm>
          <a:prstGeom prst="round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6483096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165-180: peer demo, defence note, exit ticket.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E242A"/>
                </a:solidFill>
                <a:latin typeface="Aptos Display"/>
              </a:rPr>
              <a:t>Learning outcomes for today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3246120" cy="4434840"/>
          </a:xfrm>
          <a:prstGeom prst="roundRect">
            <a:avLst/>
          </a:prstGeom>
          <a:solidFill>
            <a:srgbClr val="E8F1FA"/>
          </a:solidFill>
          <a:ln>
            <a:solidFill>
              <a:srgbClr val="1D6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1D6FC2"/>
                </a:solidFill>
                <a:latin typeface="Aptos Display"/>
              </a:rPr>
              <a:t>Build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Create the first version of: Baseline comparison, leakage audit, threshold rationale, and one-page decision memo.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417320"/>
            <a:ext cx="3246120" cy="4434840"/>
          </a:xfrm>
          <a:prstGeom prst="roundRect">
            <a:avLst/>
          </a:prstGeom>
          <a:solidFill>
            <a:srgbClr val="E5F5F3"/>
          </a:solidFill>
          <a:ln>
            <a:solidFill>
              <a:srgbClr val="1D6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916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1D6FC2"/>
                </a:solidFill>
                <a:latin typeface="Aptos Display"/>
              </a:rPr>
              <a:t>Break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Expose at least one agent, data, prompt, model, or workflow failure.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1417320"/>
            <a:ext cx="3246120" cy="4434840"/>
          </a:xfrm>
          <a:prstGeom prst="roundRect">
            <a:avLst/>
          </a:prstGeom>
          <a:solidFill>
            <a:srgbClr val="E9F4EB"/>
          </a:solidFill>
          <a:ln>
            <a:solidFill>
              <a:srgbClr val="1D6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1D6FC2"/>
                </a:solidFill>
                <a:latin typeface="Aptos Display"/>
              </a:rPr>
              <a:t>Defend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Explain what can be trusted, what was rejected, and what still needs work.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E242A"/>
                </a:solidFill>
                <a:latin typeface="Aptos Display"/>
              </a:rPr>
              <a:t>Team roles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3246120" cy="4434840"/>
          </a:xfrm>
          <a:prstGeom prst="roundRect">
            <a:avLst/>
          </a:prstGeom>
          <a:solidFill>
            <a:srgbClr val="E8F1FA"/>
          </a:solidFill>
          <a:ln>
            <a:solidFill>
              <a:srgbClr val="685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6856A6"/>
                </a:solidFill>
                <a:latin typeface="Aptos Display"/>
              </a:rPr>
              <a:t>Driver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Operates the repo, files, agent, notebook, tool, or spreadsheet.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417320"/>
            <a:ext cx="3246120" cy="4434840"/>
          </a:xfrm>
          <a:prstGeom prst="roundRect">
            <a:avLst/>
          </a:prstGeom>
          <a:solidFill>
            <a:srgbClr val="E5F5F3"/>
          </a:solidFill>
          <a:ln>
            <a:solidFill>
              <a:srgbClr val="685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916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6856A6"/>
                </a:solidFill>
                <a:latin typeface="Aptos Display"/>
              </a:rPr>
              <a:t>Reviewer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Reads outputs, checks assumptions, challenges claims, and watches for defects.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1417320"/>
            <a:ext cx="3246120" cy="4434840"/>
          </a:xfrm>
          <a:prstGeom prst="roundRect">
            <a:avLst/>
          </a:prstGeom>
          <a:solidFill>
            <a:srgbClr val="FBF1E2"/>
          </a:solidFill>
          <a:ln>
            <a:solidFill>
              <a:srgbClr val="685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6856A6"/>
                </a:solidFill>
                <a:latin typeface="Aptos Display"/>
              </a:rPr>
              <a:t>Reporter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Maintains the evidence pack, AI-use log, and defence note.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6856A6"/>
                </a:solidFill>
                <a:latin typeface="Aptos Display"/>
              </a:rPr>
              <a:t>Retrieval link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512064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6856A6"/>
                </a:solidFill>
                <a:latin typeface="Aptos Display"/>
              </a:rPr>
              <a:t>Ask the room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512064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What did we build, break, and defend last week?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Which habit matters again today?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Which previous artefact becomes input for this mission?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34440"/>
            <a:ext cx="475488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0F8B8D"/>
                </a:solidFill>
                <a:latin typeface="Aptos Display"/>
              </a:rPr>
              <a:t>Capture on 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91640"/>
            <a:ext cx="475488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Definitions students rely on.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Assumptions that need evidence.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Risks that should become tests.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Questions the agent should not decide alone.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D6FC2"/>
                </a:solidFill>
                <a:latin typeface="Aptos Display"/>
              </a:rPr>
              <a:t>Cold open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512064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1D6FC2"/>
                </a:solidFill>
                <a:latin typeface="Aptos Display"/>
              </a:rPr>
              <a:t>Ask the room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512064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The business can afford 8,000 retention offers, not 80,000. A model is only useful if it chooses better than a simple rule.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What would go wrong if the team trusted the agent too early?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What evidence would make the stakeholder comfortable?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34440"/>
            <a:ext cx="475488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0F8B8D"/>
                </a:solidFill>
                <a:latin typeface="Aptos Display"/>
              </a:rPr>
              <a:t>Capture on 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91640"/>
            <a:ext cx="475488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Definitions students rely on.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Assumptions that need evidence.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Risks that should become tests.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Questions the agent should not decide alone.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E242A"/>
                </a:solidFill>
                <a:latin typeface="Aptos Display"/>
              </a:rPr>
              <a:t>Stakeholder lens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234440"/>
            <a:ext cx="640080" cy="393192"/>
          </a:xfrm>
          <a:prstGeom prst="roundRect">
            <a:avLst/>
          </a:prstGeom>
          <a:solidFill>
            <a:srgbClr val="D98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" y="1216152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Name the stakeholder and the decision they must make.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92808"/>
            <a:ext cx="640080" cy="393192"/>
          </a:xfrm>
          <a:prstGeom prst="roundRect">
            <a:avLst/>
          </a:prstGeom>
          <a:solidFill>
            <a:srgbClr val="D98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874520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Name the artefact they expect to receive.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551176"/>
            <a:ext cx="640080" cy="393192"/>
          </a:xfrm>
          <a:prstGeom prst="roundRect">
            <a:avLst/>
          </a:prstGeom>
          <a:solidFill>
            <a:srgbClr val="D98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532888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Name the risk if the artefact is wrong.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209544"/>
            <a:ext cx="640080" cy="393192"/>
          </a:xfrm>
          <a:prstGeom prst="roundRect">
            <a:avLst/>
          </a:prstGeom>
          <a:solidFill>
            <a:srgbClr val="D98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3191256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Name the evidence that would reduce that risk.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867912"/>
            <a:ext cx="640080" cy="393192"/>
          </a:xfrm>
          <a:prstGeom prst="roundRect">
            <a:avLst/>
          </a:prstGeom>
          <a:solidFill>
            <a:srgbClr val="D98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3849624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Name what should be out of scope today.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E242A"/>
                </a:solidFill>
                <a:latin typeface="Aptos Display"/>
              </a:rPr>
              <a:t>What makes this an AI-agent course?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3246120" cy="4434840"/>
          </a:xfrm>
          <a:prstGeom prst="roundRect">
            <a:avLst/>
          </a:prstGeom>
          <a:solidFill>
            <a:srgbClr val="E8F1FA"/>
          </a:solidFill>
          <a:ln>
            <a:solidFill>
              <a:srgbClr val="0F8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0F8B8D"/>
                </a:solidFill>
                <a:latin typeface="Aptos Display"/>
              </a:rPr>
              <a:t>Delegation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Students delegate bounded work to the agent instead of doing everything manually.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417320"/>
            <a:ext cx="3246120" cy="4434840"/>
          </a:xfrm>
          <a:prstGeom prst="roundRect">
            <a:avLst/>
          </a:prstGeom>
          <a:solidFill>
            <a:srgbClr val="E5F5F3"/>
          </a:solidFill>
          <a:ln>
            <a:solidFill>
              <a:srgbClr val="0F8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916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0F8B8D"/>
                </a:solidFill>
                <a:latin typeface="Aptos Display"/>
              </a:rPr>
              <a:t>Supervision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Students inspect, test, reject, and repair agent output.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1417320"/>
            <a:ext cx="3246120" cy="4434840"/>
          </a:xfrm>
          <a:prstGeom prst="roundRect">
            <a:avLst/>
          </a:prstGeom>
          <a:solidFill>
            <a:srgbClr val="E9F4EB"/>
          </a:solidFill>
          <a:ln>
            <a:solidFill>
              <a:srgbClr val="0F8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0F8B8D"/>
                </a:solidFill>
                <a:latin typeface="Aptos Display"/>
              </a:rPr>
              <a:t>Accountability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Students defend the final artefact as human analysts, not as agent operators.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256032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500" b="1">
                <a:solidFill>
                  <a:srgbClr val="E8F1FA"/>
                </a:solidFill>
                <a:latin typeface="Aptos Display"/>
              </a:rPr>
              <a:t>Context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74519"/>
            <a:ext cx="10241280" cy="9144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Aptos Display"/>
              </a:rPr>
              <a:t>Understand the problem before prompting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246120"/>
            <a:ext cx="9875520" cy="7772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0">
                <a:solidFill>
                  <a:srgbClr val="E8F1FA"/>
                </a:solidFill>
                <a:latin typeface="Aptos"/>
              </a:rPr>
              <a:t>Students should know the files, definitions, stakeholder, and acceptance criteria before the agent starts.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4892040"/>
            <a:ext cx="2011680" cy="502920"/>
          </a:xfrm>
          <a:prstGeom prst="roundRect">
            <a:avLst/>
          </a:prstGeom>
          <a:solidFill>
            <a:srgbClr val="1D6F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Week 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5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0F8B8D"/>
                </a:solidFill>
                <a:latin typeface="Aptos Display"/>
              </a:rPr>
              <a:t>Starter file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4846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300">
                <a:solidFill>
                  <a:srgbClr val="1E242A"/>
                </a:solidFill>
                <a:latin typeface="Aptos"/>
              </a:rPr>
              <a:t>Starter_Kit/sample_data/week3_retention_training.csv</a:t>
            </a:r>
          </a:p>
          <a:p>
            <a:pPr/>
            <a:r>
              <a:rPr sz="2300">
                <a:solidFill>
                  <a:srgbClr val="1E242A"/>
                </a:solidFill>
                <a:latin typeface="Aptos"/>
              </a:rPr>
              <a:t>Sample_Data_and_Scenarios.md cost assumptions</a:t>
            </a:r>
          </a:p>
          <a:p>
            <a:pPr/>
            <a:r>
              <a:rPr sz="2300">
                <a:solidFill>
                  <a:srgbClr val="1E242A"/>
                </a:solidFill>
                <a:latin typeface="Aptos"/>
              </a:rPr>
              <a:t>Starter_Kit/templates/defence_note_template.md</a:t>
            </a:r>
          </a:p>
          <a:p>
            <a:pPr/>
            <a:r>
              <a:rPr sz="2300">
                <a:solidFill>
                  <a:srgbClr val="1E242A"/>
                </a:solidFill>
                <a:latin typeface="Aptos"/>
              </a:rPr>
              <a:t>Portfolio_and_Assessment_Model.md rubric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D98B23"/>
                </a:solidFill>
                <a:latin typeface="Aptos Display"/>
              </a:rPr>
              <a:t>Confirm before prompting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512064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D98B23"/>
                </a:solidFill>
                <a:latin typeface="Aptos Display"/>
              </a:rPr>
              <a:t>Ask the room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512064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What decision will the model change?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Which features are unavailable at decision time?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What capacity or budget limit sets the threshold?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34440"/>
            <a:ext cx="475488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0F8B8D"/>
                </a:solidFill>
                <a:latin typeface="Aptos Display"/>
              </a:rPr>
              <a:t>Capture on 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91640"/>
            <a:ext cx="475488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Definitions students rely on.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Assumptions that need evidence.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Risks that should become tests.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Questions the agent should not decide alone.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E242A"/>
                </a:solidFill>
                <a:latin typeface="Aptos Display"/>
              </a:rPr>
              <a:t>Good artefact, weak artefact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3246120" cy="4434840"/>
          </a:xfrm>
          <a:prstGeom prst="roundRect">
            <a:avLst/>
          </a:prstGeom>
          <a:solidFill>
            <a:srgbClr val="E8F1FA"/>
          </a:solidFill>
          <a:ln>
            <a:solidFill>
              <a:srgbClr val="468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468A52"/>
                </a:solidFill>
                <a:latin typeface="Aptos Display"/>
              </a:rPr>
              <a:t>Good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Runs or can be inspected, names assumptions, and includes checks.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417320"/>
            <a:ext cx="3246120" cy="4434840"/>
          </a:xfrm>
          <a:prstGeom prst="roundRect">
            <a:avLst/>
          </a:prstGeom>
          <a:solidFill>
            <a:srgbClr val="E5F5F3"/>
          </a:solidFill>
          <a:ln>
            <a:solidFill>
              <a:srgbClr val="468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916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468A52"/>
                </a:solidFill>
                <a:latin typeface="Aptos Display"/>
              </a:rPr>
              <a:t>Weak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Looks polished but hides definitions, dropped records, leakage, or unsupported claims.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1417320"/>
            <a:ext cx="3246120" cy="4434840"/>
          </a:xfrm>
          <a:prstGeom prst="roundRect">
            <a:avLst/>
          </a:prstGeom>
          <a:solidFill>
            <a:srgbClr val="E9F4EB"/>
          </a:solidFill>
          <a:ln>
            <a:solidFill>
              <a:srgbClr val="468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468A52"/>
                </a:solidFill>
                <a:latin typeface="Aptos Display"/>
              </a:rPr>
              <a:t>Repairable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Imperfect first draft with visible evidence and a clear next fix.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256032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500" b="1">
                <a:solidFill>
                  <a:srgbClr val="E8F1FA"/>
                </a:solidFill>
                <a:latin typeface="Aptos Display"/>
              </a:rPr>
              <a:t>Prompt Clinic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74519"/>
            <a:ext cx="10241280" cy="9144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Aptos Display"/>
              </a:rPr>
              <a:t>Control the agent before it controls the task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246120"/>
            <a:ext cx="9875520" cy="7772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0">
                <a:solidFill>
                  <a:srgbClr val="E8F1FA"/>
                </a:solidFill>
                <a:latin typeface="Aptos"/>
              </a:rPr>
              <a:t>Students practise turning vague requests into supervised work orders.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4892040"/>
            <a:ext cx="2011680" cy="502920"/>
          </a:xfrm>
          <a:prstGeom prst="roundRect">
            <a:avLst/>
          </a:prstGeom>
          <a:solidFill>
            <a:srgbClr val="68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Week 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E242A"/>
                </a:solidFill>
                <a:latin typeface="Aptos Display"/>
              </a:rPr>
              <a:t>Weak prompt pattern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3246120" cy="4434840"/>
          </a:xfrm>
          <a:prstGeom prst="roundRect">
            <a:avLst/>
          </a:prstGeom>
          <a:solidFill>
            <a:srgbClr val="FAE9E9"/>
          </a:solidFill>
          <a:ln>
            <a:solidFill>
              <a:srgbClr val="BA3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BA3B46"/>
                </a:solidFill>
                <a:latin typeface="Aptos Display"/>
              </a:rPr>
              <a:t>Too broad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The agent chooses the task boundary and success criteria.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417320"/>
            <a:ext cx="3246120" cy="4434840"/>
          </a:xfrm>
          <a:prstGeom prst="roundRect">
            <a:avLst/>
          </a:prstGeom>
          <a:solidFill>
            <a:srgbClr val="FBF1E2"/>
          </a:solidFill>
          <a:ln>
            <a:solidFill>
              <a:srgbClr val="BA3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916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BA3B46"/>
                </a:solidFill>
                <a:latin typeface="Aptos Display"/>
              </a:rPr>
              <a:t>Too trusting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The agent chooses definitions, joins, thresholds, or causal claims.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1417320"/>
            <a:ext cx="3246120" cy="4434840"/>
          </a:xfrm>
          <a:prstGeom prst="roundRect">
            <a:avLst/>
          </a:prstGeom>
          <a:solidFill>
            <a:srgbClr val="E8F1FA"/>
          </a:solidFill>
          <a:ln>
            <a:solidFill>
              <a:srgbClr val="BA3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BA3B46"/>
                </a:solidFill>
                <a:latin typeface="Aptos Display"/>
              </a:rPr>
              <a:t>Too vague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The output cannot be checked because no acceptance criteria were given.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E242A"/>
                </a:solidFill>
                <a:latin typeface="Aptos Display"/>
              </a:rPr>
              <a:t>Strong work-order pattern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234440"/>
            <a:ext cx="640080" cy="393192"/>
          </a:xfrm>
          <a:prstGeom prst="roundRect">
            <a:avLst/>
          </a:prstGeom>
          <a:solidFill>
            <a:srgbClr val="68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" y="1216152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Business goal: what decision or workflow does this support?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92808"/>
            <a:ext cx="640080" cy="393192"/>
          </a:xfrm>
          <a:prstGeom prst="roundRect">
            <a:avLst/>
          </a:prstGeom>
          <a:solidFill>
            <a:srgbClr val="68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874520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Inputs: files, tables, definitions, sources, or prior artefacts.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551176"/>
            <a:ext cx="640080" cy="393192"/>
          </a:xfrm>
          <a:prstGeom prst="roundRect">
            <a:avLst/>
          </a:prstGeom>
          <a:solidFill>
            <a:srgbClr val="68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532888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Task: the bounded work the agent should perform.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209544"/>
            <a:ext cx="640080" cy="393192"/>
          </a:xfrm>
          <a:prstGeom prst="roundRect">
            <a:avLst/>
          </a:prstGeom>
          <a:solidFill>
            <a:srgbClr val="68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3191256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Acceptance criteria: what must be true before humans accept 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867912"/>
            <a:ext cx="640080" cy="393192"/>
          </a:xfrm>
          <a:prstGeom prst="roundRect">
            <a:avLst/>
          </a:prstGeom>
          <a:solidFill>
            <a:srgbClr val="68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3849624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Constraints: what the agent must not invent, drop, infer, or overclaim.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526279"/>
            <a:ext cx="640080" cy="393192"/>
          </a:xfrm>
          <a:prstGeom prst="roundRect">
            <a:avLst/>
          </a:prstGeom>
          <a:solidFill>
            <a:srgbClr val="68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4507992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Output format: code, table, memo, test, checklist, or tool.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300" b="1">
                <a:solidFill>
                  <a:srgbClr val="6856A6"/>
                </a:solidFill>
                <a:latin typeface="Aptos Display"/>
              </a:rPr>
              <a:t>Activity 1 - prompt rewrite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234440"/>
            <a:ext cx="1600200" cy="457200"/>
          </a:xfrm>
          <a:prstGeom prst="roundRect">
            <a:avLst/>
          </a:prstGeom>
          <a:solidFill>
            <a:srgbClr val="68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10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5029200" cy="1508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500" b="1">
                <a:solidFill>
                  <a:srgbClr val="1E242A"/>
                </a:solidFill>
                <a:latin typeface="Aptos Display"/>
              </a:rPr>
              <a:t>Decision frame: action, eligibility, capacity, cost, and value.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34440"/>
            <a:ext cx="475488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1D6FC2"/>
                </a:solidFill>
                <a:latin typeface="Aptos Display"/>
              </a:rPr>
              <a:t>Output before moving 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91640"/>
            <a:ext cx="475488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100">
                <a:solidFill>
                  <a:srgbClr val="1E242A"/>
                </a:solidFill>
                <a:latin typeface="Aptos"/>
              </a:rPr>
              <a:t>One revised work order.</a:t>
            </a:r>
          </a:p>
          <a:p>
            <a:pPr/>
            <a:r>
              <a:rPr sz="2100">
                <a:solidFill>
                  <a:srgbClr val="1E242A"/>
                </a:solidFill>
                <a:latin typeface="Aptos"/>
              </a:rPr>
              <a:t>One acceptance criterion.</a:t>
            </a:r>
          </a:p>
          <a:p>
            <a:pPr/>
            <a:r>
              <a:rPr sz="2100">
                <a:solidFill>
                  <a:srgbClr val="1E242A"/>
                </a:solidFill>
                <a:latin typeface="Aptos"/>
              </a:rPr>
              <a:t>One constraint that prevents a known failure.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300" b="1">
                <a:solidFill>
                  <a:srgbClr val="6856A6"/>
                </a:solidFill>
                <a:latin typeface="Aptos Display"/>
              </a:rPr>
              <a:t>Prompt rewrite debrief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530352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6856A6"/>
                </a:solidFill>
                <a:latin typeface="Aptos Display"/>
              </a:rPr>
              <a:t>Debrief prompts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5303520" cy="397763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Which word in the prompt reduced ambiguity?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Which acceptance criterion can actually fail?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Which constraint protects the stakeholder?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37960" y="1234440"/>
            <a:ext cx="457200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6856A6"/>
                </a:solidFill>
                <a:latin typeface="Aptos Display"/>
              </a:rPr>
              <a:t>Instructor listens for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37960" y="1691640"/>
            <a:ext cx="4572000" cy="397763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A specific artefact, not a general intention.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A named failure mode.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Evidence that can be inspected.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A limit or no-use condition.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3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256032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500" b="1">
                <a:solidFill>
                  <a:srgbClr val="E8F1FA"/>
                </a:solidFill>
                <a:latin typeface="Aptos Display"/>
              </a:rPr>
              <a:t>Concept Depth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74519"/>
            <a:ext cx="10241280" cy="9144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Aptos Display"/>
              </a:rPr>
              <a:t>Short teaching, immediate 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246120"/>
            <a:ext cx="9875520" cy="7772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0">
                <a:solidFill>
                  <a:srgbClr val="E8F1FA"/>
                </a:solidFill>
                <a:latin typeface="Aptos"/>
              </a:rPr>
              <a:t>Use these concept slides to equip the build, not to turn the seminar into a lecture.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4892040"/>
            <a:ext cx="2011680" cy="502920"/>
          </a:xfrm>
          <a:prstGeom prst="roundRect">
            <a:avLst/>
          </a:prstGeom>
          <a:solidFill>
            <a:srgbClr val="1D6F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Week 3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E242A"/>
                </a:solidFill>
                <a:latin typeface="Aptos Display"/>
              </a:rPr>
              <a:t>Concept 1: Baselines before models.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3246120" cy="4434840"/>
          </a:xfrm>
          <a:prstGeom prst="roundRect">
            <a:avLst/>
          </a:prstGeom>
          <a:solidFill>
            <a:srgbClr val="E8F1FA"/>
          </a:solidFill>
          <a:ln>
            <a:solidFill>
              <a:srgbClr val="1D6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1D6FC2"/>
                </a:solidFill>
                <a:latin typeface="Aptos Display"/>
              </a:rPr>
              <a:t>Meaning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How this idea changes today's artefact: Baseline comparison, leakage audit, threshold rationale, and one-page decision memo.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417320"/>
            <a:ext cx="3246120" cy="4434840"/>
          </a:xfrm>
          <a:prstGeom prst="roundRect">
            <a:avLst/>
          </a:prstGeom>
          <a:solidFill>
            <a:srgbClr val="E5F5F3"/>
          </a:solidFill>
          <a:ln>
            <a:solidFill>
              <a:srgbClr val="1D6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916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1D6FC2"/>
                </a:solidFill>
                <a:latin typeface="Aptos Display"/>
              </a:rPr>
              <a:t>Failure prevented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Connect it to one failure card: Post-outcome column leaks the answer.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1417320"/>
            <a:ext cx="3246120" cy="4434840"/>
          </a:xfrm>
          <a:prstGeom prst="roundRect">
            <a:avLst/>
          </a:prstGeom>
          <a:solidFill>
            <a:srgbClr val="E9F4EB"/>
          </a:solidFill>
          <a:ln>
            <a:solidFill>
              <a:srgbClr val="1D6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1D6FC2"/>
                </a:solidFill>
                <a:latin typeface="Aptos Display"/>
              </a:rPr>
              <a:t>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Students must show: Baseline table.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3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D6FC2"/>
                </a:solidFill>
                <a:latin typeface="Aptos Display"/>
              </a:rPr>
              <a:t>Concept 1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512064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1D6FC2"/>
                </a:solidFill>
                <a:latin typeface="Aptos Display"/>
              </a:rPr>
              <a:t>Ask the room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512064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What would the agent do if this concept were ignored?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What would a strong student artefact include?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What is the smallest evidence item that proves the concept was used?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34440"/>
            <a:ext cx="475488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0F8B8D"/>
                </a:solidFill>
                <a:latin typeface="Aptos Display"/>
              </a:rPr>
              <a:t>Capture on 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91640"/>
            <a:ext cx="475488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Definitions students rely on.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Assumptions that need evidence.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Risks that should become tests.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Questions the agent should not decide alone.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3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E242A"/>
                </a:solidFill>
                <a:latin typeface="Aptos Display"/>
              </a:rPr>
              <a:t>Concept 2: Leakage audit before celebration.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3246120" cy="4434840"/>
          </a:xfrm>
          <a:prstGeom prst="roundRect">
            <a:avLst/>
          </a:prstGeom>
          <a:solidFill>
            <a:srgbClr val="E8F1FA"/>
          </a:solidFill>
          <a:ln>
            <a:solidFill>
              <a:srgbClr val="0F8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0F8B8D"/>
                </a:solidFill>
                <a:latin typeface="Aptos Display"/>
              </a:rPr>
              <a:t>Meaning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How this idea changes today's artefact: Baseline comparison, leakage audit, threshold rationale, and one-page decision memo.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417320"/>
            <a:ext cx="3246120" cy="4434840"/>
          </a:xfrm>
          <a:prstGeom prst="roundRect">
            <a:avLst/>
          </a:prstGeom>
          <a:solidFill>
            <a:srgbClr val="E5F5F3"/>
          </a:solidFill>
          <a:ln>
            <a:solidFill>
              <a:srgbClr val="0F8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916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0F8B8D"/>
                </a:solidFill>
                <a:latin typeface="Aptos Display"/>
              </a:rPr>
              <a:t>Failure prevented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Connect it to one failure card: Accuracy looks high because churn is rare.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1417320"/>
            <a:ext cx="3246120" cy="4434840"/>
          </a:xfrm>
          <a:prstGeom prst="roundRect">
            <a:avLst/>
          </a:prstGeom>
          <a:solidFill>
            <a:srgbClr val="E9F4EB"/>
          </a:solidFill>
          <a:ln>
            <a:solidFill>
              <a:srgbClr val="0F8B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0F8B8D"/>
                </a:solidFill>
                <a:latin typeface="Aptos Display"/>
              </a:rPr>
              <a:t>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Students must show: Leakage-audit output.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3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0F8B8D"/>
                </a:solidFill>
                <a:latin typeface="Aptos Display"/>
              </a:rPr>
              <a:t>Concept 2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512064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0F8B8D"/>
                </a:solidFill>
                <a:latin typeface="Aptos Display"/>
              </a:rPr>
              <a:t>Ask the room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512064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What would the agent do if this concept were ignored?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What would a strong student artefact include?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What is the smallest evidence item that proves the concept was used?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34440"/>
            <a:ext cx="475488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0F8B8D"/>
                </a:solidFill>
                <a:latin typeface="Aptos Display"/>
              </a:rPr>
              <a:t>Capture on 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91640"/>
            <a:ext cx="475488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Definitions students rely on.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Assumptions that need evidence.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Risks that should become tests.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Questions the agent should not decide alone.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3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E242A"/>
                </a:solidFill>
                <a:latin typeface="Aptos Display"/>
              </a:rPr>
              <a:t>Concept 3: Threshold as a business decision.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3246120" cy="4434840"/>
          </a:xfrm>
          <a:prstGeom prst="roundRect">
            <a:avLst/>
          </a:prstGeom>
          <a:solidFill>
            <a:srgbClr val="E8F1FA"/>
          </a:solidFill>
          <a:ln>
            <a:solidFill>
              <a:srgbClr val="685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6856A6"/>
                </a:solidFill>
                <a:latin typeface="Aptos Display"/>
              </a:rPr>
              <a:t>Meaning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How this idea changes today's artefact: Baseline comparison, leakage audit, threshold rationale, and one-page decision memo.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417320"/>
            <a:ext cx="3246120" cy="4434840"/>
          </a:xfrm>
          <a:prstGeom prst="roundRect">
            <a:avLst/>
          </a:prstGeom>
          <a:solidFill>
            <a:srgbClr val="E5F5F3"/>
          </a:solidFill>
          <a:ln>
            <a:solidFill>
              <a:srgbClr val="685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916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6856A6"/>
                </a:solidFill>
                <a:latin typeface="Aptos Display"/>
              </a:rPr>
              <a:t>Failure prevented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Connect it to one failure card: Agent picks 0.5 threshold without cost logic.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1417320"/>
            <a:ext cx="3246120" cy="4434840"/>
          </a:xfrm>
          <a:prstGeom prst="roundRect">
            <a:avLst/>
          </a:prstGeom>
          <a:solidFill>
            <a:srgbClr val="E9F4EB"/>
          </a:solidFill>
          <a:ln>
            <a:solidFill>
              <a:srgbClr val="685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6856A6"/>
                </a:solidFill>
                <a:latin typeface="Aptos Display"/>
              </a:rPr>
              <a:t>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Students must show: Expected-value calculation.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3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6856A6"/>
                </a:solidFill>
                <a:latin typeface="Aptos Display"/>
              </a:rPr>
              <a:t>Concept 3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512064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6856A6"/>
                </a:solidFill>
                <a:latin typeface="Aptos Display"/>
              </a:rPr>
              <a:t>Ask the room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512064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What would the agent do if this concept were ignored?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What would a strong student artefact include?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What is the smallest evidence item that proves the concept was used?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34440"/>
            <a:ext cx="475488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0F8B8D"/>
                </a:solidFill>
                <a:latin typeface="Aptos Display"/>
              </a:rPr>
              <a:t>Capture on 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91640"/>
            <a:ext cx="475488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Definitions students rely on.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Assumptions that need evidence.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Risks that should become tests.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Questions the agent should not decide alone.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3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256032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500" b="1">
                <a:solidFill>
                  <a:srgbClr val="E8F1FA"/>
                </a:solidFill>
                <a:latin typeface="Aptos Display"/>
              </a:rPr>
              <a:t>Worked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74519"/>
            <a:ext cx="10241280" cy="9144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Aptos Display"/>
              </a:rPr>
              <a:t>Model the evidence standard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246120"/>
            <a:ext cx="9875520" cy="7772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0">
                <a:solidFill>
                  <a:srgbClr val="E8F1FA"/>
                </a:solidFill>
                <a:latin typeface="Aptos"/>
              </a:rPr>
              <a:t>Students should imitate the structure of evidence, not copy the example.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4892040"/>
            <a:ext cx="2011680" cy="502920"/>
          </a:xfrm>
          <a:prstGeom prst="roundRect">
            <a:avLst/>
          </a:prstGeom>
          <a:solidFill>
            <a:srgbClr val="468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Week 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468A52"/>
                </a:solidFill>
                <a:latin typeface="Aptos Display"/>
              </a:rPr>
              <a:t>Worked example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515600" cy="4937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400">
                <a:solidFill>
                  <a:srgbClr val="1E242A"/>
                </a:solidFill>
                <a:latin typeface="Aptos"/>
              </a:rPr>
              <a:t>Good leakage audit: excludes target and post-offer response.</a:t>
            </a:r>
          </a:p>
          <a:p>
            <a:pPr/>
            <a:r>
              <a:rPr sz="2400">
                <a:solidFill>
                  <a:srgbClr val="1E242A"/>
                </a:solidFill>
                <a:latin typeface="Aptos"/>
              </a:rPr>
              <a:t>Good baseline table: compares model with simple business rules.</a:t>
            </a:r>
          </a:p>
          <a:p>
            <a:pPr/>
            <a:r>
              <a:rPr sz="2400">
                <a:solidFill>
                  <a:srgbClr val="1E242A"/>
                </a:solidFill>
                <a:latin typeface="Aptos"/>
              </a:rPr>
              <a:t>Good decision memo: ties threshold to cost, capacity, and limits.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3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468A52"/>
                </a:solidFill>
                <a:latin typeface="Aptos Display"/>
              </a:rPr>
              <a:t>Worked example critique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512064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468A52"/>
                </a:solidFill>
                <a:latin typeface="Aptos Display"/>
              </a:rPr>
              <a:t>Ask the room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512064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What claim is being made?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Where is the evidence?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What limit is named?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What would you ask before accepting it?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34440"/>
            <a:ext cx="475488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0F8B8D"/>
                </a:solidFill>
                <a:latin typeface="Aptos Display"/>
              </a:rPr>
              <a:t>Capture on 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91640"/>
            <a:ext cx="475488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Definitions students rely on.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Assumptions that need evidence.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Risks that should become tests.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Questions the agent should not decide alone.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3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256032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500" b="1">
                <a:solidFill>
                  <a:srgbClr val="E8F1FA"/>
                </a:solidFill>
                <a:latin typeface="Aptos Display"/>
              </a:rPr>
              <a:t>Guided 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74519"/>
            <a:ext cx="10241280" cy="9144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Aptos Display"/>
              </a:rPr>
              <a:t>Make students do the thinking before the build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246120"/>
            <a:ext cx="9875520" cy="7772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0">
                <a:solidFill>
                  <a:srgbClr val="E8F1FA"/>
                </a:solidFill>
                <a:latin typeface="Aptos"/>
              </a:rPr>
              <a:t>The goal is not coverage. The goal is a better first sprint.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4892040"/>
            <a:ext cx="2011680" cy="502920"/>
          </a:xfrm>
          <a:prstGeom prst="roundRect">
            <a:avLst/>
          </a:prstGeom>
          <a:solidFill>
            <a:srgbClr val="D98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Week 3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300" b="1">
                <a:solidFill>
                  <a:srgbClr val="D98B23"/>
                </a:solidFill>
                <a:latin typeface="Aptos Display"/>
              </a:rPr>
              <a:t>Exercise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234440"/>
            <a:ext cx="1600200" cy="457200"/>
          </a:xfrm>
          <a:prstGeom prst="roundRect">
            <a:avLst/>
          </a:prstGeom>
          <a:solidFill>
            <a:srgbClr val="D98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12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5029200" cy="1508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500" b="1">
                <a:solidFill>
                  <a:srgbClr val="1E242A"/>
                </a:solidFill>
                <a:latin typeface="Aptos Display"/>
              </a:rPr>
              <a:t>Decision frame: action, eligibility, capacity, cost, and value.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34440"/>
            <a:ext cx="475488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1D6FC2"/>
                </a:solidFill>
                <a:latin typeface="Aptos Display"/>
              </a:rPr>
              <a:t>Output before moving 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91640"/>
            <a:ext cx="475488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100">
                <a:solidFill>
                  <a:srgbClr val="1E242A"/>
                </a:solidFill>
                <a:latin typeface="Aptos"/>
              </a:rPr>
              <a:t>A visible table, prompt, test, note, or decision.</a:t>
            </a:r>
          </a:p>
          <a:p>
            <a:pPr/>
            <a:r>
              <a:rPr sz="2100">
                <a:solidFill>
                  <a:srgbClr val="1E242A"/>
                </a:solidFill>
                <a:latin typeface="Aptos"/>
              </a:rPr>
              <a:t>One assumption written down.</a:t>
            </a:r>
          </a:p>
          <a:p>
            <a:pPr/>
            <a:r>
              <a:rPr sz="2100">
                <a:solidFill>
                  <a:srgbClr val="1E242A"/>
                </a:solidFill>
                <a:latin typeface="Aptos"/>
              </a:rPr>
              <a:t>One peer or instructor question answered.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3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300" b="1">
                <a:solidFill>
                  <a:srgbClr val="D98B23"/>
                </a:solidFill>
                <a:latin typeface="Aptos Display"/>
              </a:rPr>
              <a:t>Exercise 1 debrief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530352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D98B23"/>
                </a:solidFill>
                <a:latin typeface="Aptos Display"/>
              </a:rPr>
              <a:t>Debrief prompts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5303520" cy="397763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What was easy for the agent?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What decision had to stay human?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What evidence changed the team's mind?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37960" y="1234440"/>
            <a:ext cx="457200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6856A6"/>
                </a:solidFill>
                <a:latin typeface="Aptos Display"/>
              </a:rPr>
              <a:t>Instructor listens for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37960" y="1691640"/>
            <a:ext cx="4572000" cy="397763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A specific artefact, not a general intention.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A named failure mode.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Evidence that can be inspected.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A limit or no-use condition.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3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300" b="1">
                <a:solidFill>
                  <a:srgbClr val="D98B23"/>
                </a:solidFill>
                <a:latin typeface="Aptos Display"/>
              </a:rPr>
              <a:t>Exercise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234440"/>
            <a:ext cx="1600200" cy="457200"/>
          </a:xfrm>
          <a:prstGeom prst="roundRect">
            <a:avLst/>
          </a:prstGeom>
          <a:solidFill>
            <a:srgbClr val="D98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12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5029200" cy="1508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500" b="1">
                <a:solidFill>
                  <a:srgbClr val="1E242A"/>
                </a:solidFill>
                <a:latin typeface="Aptos Display"/>
              </a:rPr>
              <a:t>Leakage hunt: label every column by decision-time availability.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34440"/>
            <a:ext cx="475488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1D6FC2"/>
                </a:solidFill>
                <a:latin typeface="Aptos Display"/>
              </a:rPr>
              <a:t>Output before moving 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91640"/>
            <a:ext cx="475488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100">
                <a:solidFill>
                  <a:srgbClr val="1E242A"/>
                </a:solidFill>
                <a:latin typeface="Aptos"/>
              </a:rPr>
              <a:t>A visible table, prompt, test, note, or decision.</a:t>
            </a:r>
          </a:p>
          <a:p>
            <a:pPr/>
            <a:r>
              <a:rPr sz="2100">
                <a:solidFill>
                  <a:srgbClr val="1E242A"/>
                </a:solidFill>
                <a:latin typeface="Aptos"/>
              </a:rPr>
              <a:t>One assumption written down.</a:t>
            </a:r>
          </a:p>
          <a:p>
            <a:pPr/>
            <a:r>
              <a:rPr sz="2100">
                <a:solidFill>
                  <a:srgbClr val="1E242A"/>
                </a:solidFill>
                <a:latin typeface="Aptos"/>
              </a:rPr>
              <a:t>One peer or instructor question answered.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3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300" b="1">
                <a:solidFill>
                  <a:srgbClr val="D98B23"/>
                </a:solidFill>
                <a:latin typeface="Aptos Display"/>
              </a:rPr>
              <a:t>Exercise 2 debrief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530352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D98B23"/>
                </a:solidFill>
                <a:latin typeface="Aptos Display"/>
              </a:rPr>
              <a:t>Debrief prompts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5303520" cy="397763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What was easy for the agent?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What decision had to stay human?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What evidence changed the team's mind?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37960" y="1234440"/>
            <a:ext cx="457200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6856A6"/>
                </a:solidFill>
                <a:latin typeface="Aptos Display"/>
              </a:rPr>
              <a:t>Instructor listens for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37960" y="1691640"/>
            <a:ext cx="4572000" cy="397763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A specific artefact, not a general intention.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A named failure mode.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Evidence that can be inspected.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A limit or no-use condition.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3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300" b="1">
                <a:solidFill>
                  <a:srgbClr val="D98B23"/>
                </a:solidFill>
                <a:latin typeface="Aptos Display"/>
              </a:rPr>
              <a:t>Exercise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234440"/>
            <a:ext cx="1600200" cy="457200"/>
          </a:xfrm>
          <a:prstGeom prst="roundRect">
            <a:avLst/>
          </a:prstGeom>
          <a:solidFill>
            <a:srgbClr val="D98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18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5029200" cy="1508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500" b="1">
                <a:solidFill>
                  <a:srgbClr val="1E242A"/>
                </a:solidFill>
                <a:latin typeface="Aptos Display"/>
              </a:rPr>
              <a:t>Threshold economics: choose a top-N or cutoff policy.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34440"/>
            <a:ext cx="475488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1D6FC2"/>
                </a:solidFill>
                <a:latin typeface="Aptos Display"/>
              </a:rPr>
              <a:t>Output before moving 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91640"/>
            <a:ext cx="475488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100">
                <a:solidFill>
                  <a:srgbClr val="1E242A"/>
                </a:solidFill>
                <a:latin typeface="Aptos"/>
              </a:rPr>
              <a:t>A visible table, prompt, test, note, or decision.</a:t>
            </a:r>
          </a:p>
          <a:p>
            <a:pPr/>
            <a:r>
              <a:rPr sz="2100">
                <a:solidFill>
                  <a:srgbClr val="1E242A"/>
                </a:solidFill>
                <a:latin typeface="Aptos"/>
              </a:rPr>
              <a:t>One assumption written down.</a:t>
            </a:r>
          </a:p>
          <a:p>
            <a:pPr/>
            <a:r>
              <a:rPr sz="2100">
                <a:solidFill>
                  <a:srgbClr val="1E242A"/>
                </a:solidFill>
                <a:latin typeface="Aptos"/>
              </a:rPr>
              <a:t>One peer or instructor question answered.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3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300" b="1">
                <a:solidFill>
                  <a:srgbClr val="D98B23"/>
                </a:solidFill>
                <a:latin typeface="Aptos Display"/>
              </a:rPr>
              <a:t>Exercise 3 debrief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530352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D98B23"/>
                </a:solidFill>
                <a:latin typeface="Aptos Display"/>
              </a:rPr>
              <a:t>Debrief prompts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5303520" cy="397763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What was easy for the agent?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What decision had to stay human?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What evidence changed the team's mind?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37960" y="1234440"/>
            <a:ext cx="457200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6856A6"/>
                </a:solidFill>
                <a:latin typeface="Aptos Display"/>
              </a:rPr>
              <a:t>Instructor listens for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37960" y="1691640"/>
            <a:ext cx="4572000" cy="397763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A specific artefact, not a general intention.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A named failure mode.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Evidence that can be inspected.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A limit or no-use condition.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3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256032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500" b="1">
                <a:solidFill>
                  <a:srgbClr val="E8F1FA"/>
                </a:solidFill>
                <a:latin typeface="Aptos Display"/>
              </a:rPr>
              <a:t>Sprint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74519"/>
            <a:ext cx="10241280" cy="9144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Aptos Display"/>
              </a:rPr>
              <a:t>Build the first version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246120"/>
            <a:ext cx="9875520" cy="7772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0">
                <a:solidFill>
                  <a:srgbClr val="E8F1FA"/>
                </a:solidFill>
                <a:latin typeface="Aptos"/>
              </a:rPr>
              <a:t>Time-box the build so students have something real to attack.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4892040"/>
            <a:ext cx="2011680" cy="502920"/>
          </a:xfrm>
          <a:prstGeom prst="roundRect">
            <a:avLst/>
          </a:prstGeom>
          <a:solidFill>
            <a:srgbClr val="1D6F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Week 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E242A"/>
                </a:solidFill>
                <a:latin typeface="Aptos Display"/>
              </a:rPr>
              <a:t>Sprint A operating rules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234440"/>
            <a:ext cx="640080" cy="393192"/>
          </a:xfrm>
          <a:prstGeom prst="roundRect">
            <a:avLst/>
          </a:prstGeom>
          <a:solidFill>
            <a:srgbClr val="1D6F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" y="1216152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Start from the work order, not a blank chat.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92808"/>
            <a:ext cx="640080" cy="393192"/>
          </a:xfrm>
          <a:prstGeom prst="roundRect">
            <a:avLst/>
          </a:prstGeom>
          <a:solidFill>
            <a:srgbClr val="1D6F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874520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Keep the agent output visible and reviewable.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551176"/>
            <a:ext cx="640080" cy="393192"/>
          </a:xfrm>
          <a:prstGeom prst="roundRect">
            <a:avLst/>
          </a:prstGeom>
          <a:solidFill>
            <a:srgbClr val="1D6F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532888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Run the artefact before improving 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209544"/>
            <a:ext cx="640080" cy="393192"/>
          </a:xfrm>
          <a:prstGeom prst="roundRect">
            <a:avLst/>
          </a:prstGeom>
          <a:solidFill>
            <a:srgbClr val="1D6F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3191256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Write down the first defect or uncertainty.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867912"/>
            <a:ext cx="640080" cy="393192"/>
          </a:xfrm>
          <a:prstGeom prst="roundRect">
            <a:avLst/>
          </a:prstGeom>
          <a:solidFill>
            <a:srgbClr val="1D6F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3849624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Commit or save the first version before repair.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3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1D6FC2"/>
                </a:solidFill>
                <a:latin typeface="Aptos Display"/>
              </a:rPr>
              <a:t>Sprint A task 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515600" cy="4937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600">
                <a:solidFill>
                  <a:srgbClr val="1E242A"/>
                </a:solidFill>
                <a:latin typeface="Aptos"/>
              </a:rPr>
              <a:t>Ask the agent to build three baselines.</a:t>
            </a:r>
          </a:p>
          <a:p>
            <a:pPr/>
            <a:r>
              <a:rPr sz="2600">
                <a:solidFill>
                  <a:srgbClr val="1E242A"/>
                </a:solidFill>
                <a:latin typeface="Aptos"/>
              </a:rPr>
              <a:t>Train one candidate model.</a:t>
            </a:r>
          </a:p>
          <a:p>
            <a:pPr/>
            <a:r>
              <a:rPr sz="2600">
                <a:solidFill>
                  <a:srgbClr val="1E242A"/>
                </a:solidFill>
                <a:latin typeface="Aptos"/>
              </a:rPr>
              <a:t>Compute expected value at multiple thresholds.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3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D6FC2"/>
                </a:solidFill>
                <a:latin typeface="Aptos Display"/>
              </a:rPr>
              <a:t>Sprint A checkpoint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512064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1D6FC2"/>
                </a:solidFill>
                <a:latin typeface="Aptos Display"/>
              </a:rPr>
              <a:t>Ask the room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512064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What runs or can be inspected right now?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What did the agent assume?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What evidence is missing?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What is the first defect to investigate?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34440"/>
            <a:ext cx="475488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0F8B8D"/>
                </a:solidFill>
                <a:latin typeface="Aptos Display"/>
              </a:rPr>
              <a:t>Capture on 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91640"/>
            <a:ext cx="475488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Definitions students rely on.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Assumptions that need evidence.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Risks that should become tests.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Questions the agent should not decide alone.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3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E242A"/>
                </a:solidFill>
                <a:latin typeface="Aptos Display"/>
              </a:rPr>
              <a:t>Instructor roaming script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234440"/>
            <a:ext cx="640080" cy="393192"/>
          </a:xfrm>
          <a:prstGeom prst="roundRect">
            <a:avLst/>
          </a:prstGeom>
          <a:solidFill>
            <a:srgbClr val="68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" y="1216152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Ask: show me the artefact.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92808"/>
            <a:ext cx="640080" cy="393192"/>
          </a:xfrm>
          <a:prstGeom prst="roundRect">
            <a:avLst/>
          </a:prstGeom>
          <a:solidFill>
            <a:srgbClr val="68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874520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Ask: show me what the agent changed.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551176"/>
            <a:ext cx="640080" cy="393192"/>
          </a:xfrm>
          <a:prstGeom prst="roundRect">
            <a:avLst/>
          </a:prstGeom>
          <a:solidFill>
            <a:srgbClr val="68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532888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Ask: show me one check or known value.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209544"/>
            <a:ext cx="640080" cy="393192"/>
          </a:xfrm>
          <a:prstGeom prst="roundRect">
            <a:avLst/>
          </a:prstGeom>
          <a:solidFill>
            <a:srgbClr val="68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3191256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Ask: what would make this unsafe?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867912"/>
            <a:ext cx="640080" cy="393192"/>
          </a:xfrm>
          <a:prstGeom prst="roundRect">
            <a:avLst/>
          </a:prstGeom>
          <a:solidFill>
            <a:srgbClr val="68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3849624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Do not solve unless the team is blocked by setup rather than thinking.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3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A3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256032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500" b="1">
                <a:solidFill>
                  <a:srgbClr val="E8F1FA"/>
                </a:solidFill>
                <a:latin typeface="Aptos Display"/>
              </a:rPr>
              <a:t>Break Moment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74519"/>
            <a:ext cx="10241280" cy="9144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Aptos Display"/>
              </a:rPr>
              <a:t>Failure is the teaching device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246120"/>
            <a:ext cx="9875520" cy="7772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0">
                <a:solidFill>
                  <a:srgbClr val="E8F1FA"/>
                </a:solidFill>
                <a:latin typeface="Aptos"/>
              </a:rPr>
              <a:t>The class now attacks the first draft so students learn what not to trust.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4892040"/>
            <a:ext cx="2011680" cy="502920"/>
          </a:xfrm>
          <a:prstGeom prst="roundRect">
            <a:avLst/>
          </a:prstGeom>
          <a:solidFill>
            <a:srgbClr val="BA3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Week 3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E242A"/>
                </a:solidFill>
                <a:latin typeface="Aptos Display"/>
              </a:rPr>
              <a:t>Failure card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3246120" cy="4434840"/>
          </a:xfrm>
          <a:prstGeom prst="roundRect">
            <a:avLst/>
          </a:prstGeom>
          <a:solidFill>
            <a:srgbClr val="FAE9E9"/>
          </a:solidFill>
          <a:ln>
            <a:solidFill>
              <a:srgbClr val="BA3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BA3B46"/>
                </a:solidFill>
                <a:latin typeface="Aptos Display"/>
              </a:rPr>
              <a:t>Defect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Post-outcome column leaks the answer.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417320"/>
            <a:ext cx="3246120" cy="4434840"/>
          </a:xfrm>
          <a:prstGeom prst="roundRect">
            <a:avLst/>
          </a:prstGeom>
          <a:solidFill>
            <a:srgbClr val="FBF1E2"/>
          </a:solidFill>
          <a:ln>
            <a:solidFill>
              <a:srgbClr val="BA3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916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BA3B46"/>
                </a:solidFill>
                <a:latin typeface="Aptos Display"/>
              </a:rPr>
              <a:t>How to expose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Create a check, adversarial example, missing-value case, source comparison, or peer question.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1417320"/>
            <a:ext cx="3246120" cy="4434840"/>
          </a:xfrm>
          <a:prstGeom prst="roundRect">
            <a:avLst/>
          </a:prstGeom>
          <a:solidFill>
            <a:srgbClr val="E8F1FA"/>
          </a:solidFill>
          <a:ln>
            <a:solidFill>
              <a:srgbClr val="BA3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BA3B46"/>
                </a:solidFill>
                <a:latin typeface="Aptos Display"/>
              </a:rPr>
              <a:t>What to record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Save the failing output before repairing it. This becomes portfolio evidence.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3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E242A"/>
                </a:solidFill>
                <a:latin typeface="Aptos Display"/>
              </a:rPr>
              <a:t>Failure card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3246120" cy="4434840"/>
          </a:xfrm>
          <a:prstGeom prst="roundRect">
            <a:avLst/>
          </a:prstGeom>
          <a:solidFill>
            <a:srgbClr val="FAE9E9"/>
          </a:solidFill>
          <a:ln>
            <a:solidFill>
              <a:srgbClr val="BA3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BA3B46"/>
                </a:solidFill>
                <a:latin typeface="Aptos Display"/>
              </a:rPr>
              <a:t>Defect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Accuracy looks high because churn is rare.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417320"/>
            <a:ext cx="3246120" cy="4434840"/>
          </a:xfrm>
          <a:prstGeom prst="roundRect">
            <a:avLst/>
          </a:prstGeom>
          <a:solidFill>
            <a:srgbClr val="FBF1E2"/>
          </a:solidFill>
          <a:ln>
            <a:solidFill>
              <a:srgbClr val="BA3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916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BA3B46"/>
                </a:solidFill>
                <a:latin typeface="Aptos Display"/>
              </a:rPr>
              <a:t>How to expose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Create a check, adversarial example, missing-value case, source comparison, or peer question.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1417320"/>
            <a:ext cx="3246120" cy="4434840"/>
          </a:xfrm>
          <a:prstGeom prst="roundRect">
            <a:avLst/>
          </a:prstGeom>
          <a:solidFill>
            <a:srgbClr val="E8F1FA"/>
          </a:solidFill>
          <a:ln>
            <a:solidFill>
              <a:srgbClr val="BA3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BA3B46"/>
                </a:solidFill>
                <a:latin typeface="Aptos Display"/>
              </a:rPr>
              <a:t>What to record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Save the failing output before repairing it. This becomes portfolio evidence.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3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E242A"/>
                </a:solidFill>
                <a:latin typeface="Aptos Display"/>
              </a:rPr>
              <a:t>Failure card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3246120" cy="4434840"/>
          </a:xfrm>
          <a:prstGeom prst="roundRect">
            <a:avLst/>
          </a:prstGeom>
          <a:solidFill>
            <a:srgbClr val="FAE9E9"/>
          </a:solidFill>
          <a:ln>
            <a:solidFill>
              <a:srgbClr val="BA3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BA3B46"/>
                </a:solidFill>
                <a:latin typeface="Aptos Display"/>
              </a:rPr>
              <a:t>Defect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Agent picks 0.5 threshold without cost logic.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417320"/>
            <a:ext cx="3246120" cy="4434840"/>
          </a:xfrm>
          <a:prstGeom prst="roundRect">
            <a:avLst/>
          </a:prstGeom>
          <a:solidFill>
            <a:srgbClr val="FBF1E2"/>
          </a:solidFill>
          <a:ln>
            <a:solidFill>
              <a:srgbClr val="BA3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916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BA3B46"/>
                </a:solidFill>
                <a:latin typeface="Aptos Display"/>
              </a:rPr>
              <a:t>How to expose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Create a check, adversarial example, missing-value case, source comparison, or peer question.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1417320"/>
            <a:ext cx="3246120" cy="4434840"/>
          </a:xfrm>
          <a:prstGeom prst="roundRect">
            <a:avLst/>
          </a:prstGeom>
          <a:solidFill>
            <a:srgbClr val="E8F1FA"/>
          </a:solidFill>
          <a:ln>
            <a:solidFill>
              <a:srgbClr val="BA3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BA3B46"/>
                </a:solidFill>
                <a:latin typeface="Aptos Display"/>
              </a:rPr>
              <a:t>What to record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Save the failing output before repairing it. This becomes portfolio evidence.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3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BA3B46"/>
                </a:solidFill>
                <a:latin typeface="Aptos Display"/>
              </a:rPr>
              <a:t>Defect wall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512064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BA3B46"/>
                </a:solidFill>
                <a:latin typeface="Aptos Display"/>
              </a:rPr>
              <a:t>Ask the room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512064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Post one failure your team found.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Mark whether it was agent, data, prompt, model, tool, or claim failure.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Write the evidence that exposed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34440"/>
            <a:ext cx="475488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0F8B8D"/>
                </a:solidFill>
                <a:latin typeface="Aptos Display"/>
              </a:rPr>
              <a:t>Capture on 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91640"/>
            <a:ext cx="475488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Definitions students rely on.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Assumptions that need evidence.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Risks that should become tests.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Questions the agent should not decide alone.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3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256032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500" b="1">
                <a:solidFill>
                  <a:srgbClr val="E8F1FA"/>
                </a:solidFill>
                <a:latin typeface="Aptos Display"/>
              </a:rPr>
              <a:t>Sprint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74519"/>
            <a:ext cx="10241280" cy="9144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Aptos Display"/>
              </a:rPr>
              <a:t>Repair, harden, and produce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246120"/>
            <a:ext cx="9875520" cy="7772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0">
                <a:solidFill>
                  <a:srgbClr val="E8F1FA"/>
                </a:solidFill>
                <a:latin typeface="Aptos"/>
              </a:rPr>
              <a:t>Students now move from one-off fixing to recurrence prevention.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4892040"/>
            <a:ext cx="2011680" cy="502920"/>
          </a:xfrm>
          <a:prstGeom prst="roundRect">
            <a:avLst/>
          </a:prstGeom>
          <a:solidFill>
            <a:srgbClr val="468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Week 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468A52"/>
                </a:solidFill>
                <a:latin typeface="Aptos Display"/>
              </a:rPr>
              <a:t>Repair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515600" cy="4937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600">
                <a:solidFill>
                  <a:srgbClr val="1E242A"/>
                </a:solidFill>
                <a:latin typeface="Aptos"/>
              </a:rPr>
              <a:t>Add forbidden-feature checks.</a:t>
            </a:r>
          </a:p>
          <a:p>
            <a:pPr/>
            <a:r>
              <a:rPr sz="2600">
                <a:solidFill>
                  <a:srgbClr val="1E242A"/>
                </a:solidFill>
                <a:latin typeface="Aptos"/>
              </a:rPr>
              <a:t>Compare against business-rule and random baselines.</a:t>
            </a:r>
          </a:p>
          <a:p>
            <a:pPr/>
            <a:r>
              <a:rPr sz="2600">
                <a:solidFill>
                  <a:srgbClr val="1E242A"/>
                </a:solidFill>
                <a:latin typeface="Aptos"/>
              </a:rPr>
              <a:t>Document the threshold and sensitivity range.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3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E242A"/>
                </a:solidFill>
                <a:latin typeface="Aptos Display"/>
              </a:rPr>
              <a:t>Evidence design checklist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234440"/>
            <a:ext cx="640080" cy="393192"/>
          </a:xfrm>
          <a:prstGeom prst="roundRect">
            <a:avLst/>
          </a:prstGeom>
          <a:solidFill>
            <a:srgbClr val="468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" y="1216152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Name the claim the artefact makes.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92808"/>
            <a:ext cx="640080" cy="393192"/>
          </a:xfrm>
          <a:prstGeom prst="roundRect">
            <a:avLst/>
          </a:prstGeom>
          <a:solidFill>
            <a:srgbClr val="468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874520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Name the failure that could make the claim false.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551176"/>
            <a:ext cx="640080" cy="393192"/>
          </a:xfrm>
          <a:prstGeom prst="roundRect">
            <a:avLst/>
          </a:prstGeom>
          <a:solidFill>
            <a:srgbClr val="468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532888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Show the check, test, trace, source, or review that exposes the failure.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209544"/>
            <a:ext cx="640080" cy="393192"/>
          </a:xfrm>
          <a:prstGeom prst="roundRect">
            <a:avLst/>
          </a:prstGeom>
          <a:solidFill>
            <a:srgbClr val="468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3191256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Show what changed after repair.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867912"/>
            <a:ext cx="640080" cy="393192"/>
          </a:xfrm>
          <a:prstGeom prst="roundRect">
            <a:avLst/>
          </a:prstGeom>
          <a:solidFill>
            <a:srgbClr val="468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3849624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State the remaining limit.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3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468A52"/>
                </a:solidFill>
                <a:latin typeface="Aptos Display"/>
              </a:rPr>
              <a:t>Sprint B checkpoint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512064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468A52"/>
                </a:solidFill>
                <a:latin typeface="Aptos Display"/>
              </a:rPr>
              <a:t>Ask the room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512064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Can you reproduce the failure?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Can you show the fix?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Would the failure be caught earlier next time?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What will you put in the evidence pack?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34440"/>
            <a:ext cx="475488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0F8B8D"/>
                </a:solidFill>
                <a:latin typeface="Aptos Display"/>
              </a:rPr>
              <a:t>Capture on 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91640"/>
            <a:ext cx="475488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Definitions students rely on.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Assumptions that need evidence.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Risks that should become tests.</a:t>
            </a:r>
          </a:p>
          <a:p>
            <a:pPr/>
            <a:r>
              <a:rPr sz="2000">
                <a:solidFill>
                  <a:srgbClr val="1E242A"/>
                </a:solidFill>
                <a:latin typeface="Aptos"/>
              </a:rPr>
              <a:t>Questions the agent should not decide alone.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3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256032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500" b="1">
                <a:solidFill>
                  <a:srgbClr val="E8F1FA"/>
                </a:solidFill>
                <a:latin typeface="Aptos Display"/>
              </a:rPr>
              <a:t>Peer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74519"/>
            <a:ext cx="10241280" cy="9144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Aptos Display"/>
              </a:rPr>
              <a:t>Make evidence social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246120"/>
            <a:ext cx="9875520" cy="7772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0">
                <a:solidFill>
                  <a:srgbClr val="E8F1FA"/>
                </a:solidFill>
                <a:latin typeface="Aptos"/>
              </a:rPr>
              <a:t>A peer should be able to inspect the artefact and challenge the defence.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4892040"/>
            <a:ext cx="2011680" cy="502920"/>
          </a:xfrm>
          <a:prstGeom prst="roundRect">
            <a:avLst/>
          </a:prstGeom>
          <a:solidFill>
            <a:srgbClr val="68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Week 3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E242A"/>
                </a:solidFill>
                <a:latin typeface="Aptos Display"/>
              </a:rPr>
              <a:t>Peer demo protocol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234440"/>
            <a:ext cx="640080" cy="393192"/>
          </a:xfrm>
          <a:prstGeom prst="roundRect">
            <a:avLst/>
          </a:prstGeom>
          <a:solidFill>
            <a:srgbClr val="68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" y="1216152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One minute: run or show the artefact.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92808"/>
            <a:ext cx="640080" cy="393192"/>
          </a:xfrm>
          <a:prstGeom prst="roundRect">
            <a:avLst/>
          </a:prstGeom>
          <a:solidFill>
            <a:srgbClr val="68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874520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One minute: show the failure found.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551176"/>
            <a:ext cx="640080" cy="393192"/>
          </a:xfrm>
          <a:prstGeom prst="roundRect">
            <a:avLst/>
          </a:prstGeom>
          <a:solidFill>
            <a:srgbClr val="68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532888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One minute: show the repair evidence.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209544"/>
            <a:ext cx="640080" cy="393192"/>
          </a:xfrm>
          <a:prstGeom prst="roundRect">
            <a:avLst/>
          </a:prstGeom>
          <a:solidFill>
            <a:srgbClr val="68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3191256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One minute: peer asks what still should not be trusted.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867912"/>
            <a:ext cx="640080" cy="393192"/>
          </a:xfrm>
          <a:prstGeom prst="roundRect">
            <a:avLst/>
          </a:prstGeom>
          <a:solidFill>
            <a:srgbClr val="68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3849624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One minute: team writes one improvement before submission.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3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E242A"/>
                </a:solidFill>
                <a:latin typeface="Aptos Display"/>
              </a:rPr>
              <a:t>Peer review questions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3246120" cy="4434840"/>
          </a:xfrm>
          <a:prstGeom prst="roundRect">
            <a:avLst/>
          </a:prstGeom>
          <a:solidFill>
            <a:srgbClr val="E8F1FA"/>
          </a:solidFill>
          <a:ln>
            <a:solidFill>
              <a:srgbClr val="685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6856A6"/>
                </a:solidFill>
                <a:latin typeface="Aptos Display"/>
              </a:rPr>
              <a:t>Artefact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What did you build, and can someone else inspect it?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417320"/>
            <a:ext cx="3246120" cy="4434840"/>
          </a:xfrm>
          <a:prstGeom prst="roundRect">
            <a:avLst/>
          </a:prstGeom>
          <a:solidFill>
            <a:srgbClr val="E5F5F3"/>
          </a:solidFill>
          <a:ln>
            <a:solidFill>
              <a:srgbClr val="685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916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6856A6"/>
                </a:solidFill>
                <a:latin typeface="Aptos Display"/>
              </a:rPr>
              <a:t>Failure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What did the agent, data, model, tool, or answer get wrong?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1417320"/>
            <a:ext cx="3246120" cy="4434840"/>
          </a:xfrm>
          <a:prstGeom prst="roundRect">
            <a:avLst/>
          </a:prstGeom>
          <a:solidFill>
            <a:srgbClr val="E9F4EB"/>
          </a:solidFill>
          <a:ln>
            <a:solidFill>
              <a:srgbClr val="685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6856A6"/>
                </a:solidFill>
                <a:latin typeface="Aptos Display"/>
              </a:rPr>
              <a:t>Defence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Which claim is supported, and what remains out of scope?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3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256032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500" b="1">
                <a:solidFill>
                  <a:srgbClr val="E8F1FA"/>
                </a:solidFill>
                <a:latin typeface="Aptos Display"/>
              </a:rPr>
              <a:t>Defence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74519"/>
            <a:ext cx="10241280" cy="9144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Aptos Display"/>
              </a:rPr>
              <a:t>Turn activity into assessable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246120"/>
            <a:ext cx="9875520" cy="7772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0">
                <a:solidFill>
                  <a:srgbClr val="E8F1FA"/>
                </a:solidFill>
                <a:latin typeface="Aptos"/>
              </a:rPr>
              <a:t>The defence note is where students show judgement, not just effort.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4892040"/>
            <a:ext cx="2011680" cy="502920"/>
          </a:xfrm>
          <a:prstGeom prst="roundRect">
            <a:avLst/>
          </a:prstGeom>
          <a:solidFill>
            <a:srgbClr val="468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Week 3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300" b="1">
                <a:solidFill>
                  <a:srgbClr val="468A52"/>
                </a:solidFill>
                <a:latin typeface="Aptos Display"/>
              </a:rPr>
              <a:t>Defence note writing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234440"/>
            <a:ext cx="1600200" cy="457200"/>
          </a:xfrm>
          <a:prstGeom prst="roundRect">
            <a:avLst/>
          </a:prstGeom>
          <a:solidFill>
            <a:srgbClr val="468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10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5029200" cy="1508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500" b="1">
                <a:solidFill>
                  <a:srgbClr val="1E242A"/>
                </a:solidFill>
                <a:latin typeface="Aptos Display"/>
              </a:rPr>
              <a:t>The decision policy I can defend is...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34440"/>
            <a:ext cx="475488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1D6FC2"/>
                </a:solidFill>
                <a:latin typeface="Aptos Display"/>
              </a:rPr>
              <a:t>Output before moving 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91640"/>
            <a:ext cx="475488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100">
                <a:solidFill>
                  <a:srgbClr val="1E242A"/>
                </a:solidFill>
                <a:latin typeface="Aptos"/>
              </a:rPr>
              <a:t>One claim the team can defend.</a:t>
            </a:r>
          </a:p>
          <a:p>
            <a:pPr/>
            <a:r>
              <a:rPr sz="2100">
                <a:solidFill>
                  <a:srgbClr val="1E242A"/>
                </a:solidFill>
                <a:latin typeface="Aptos"/>
              </a:rPr>
              <a:t>One evidence item linked to that claim.</a:t>
            </a:r>
          </a:p>
          <a:p>
            <a:pPr/>
            <a:r>
              <a:rPr sz="2100">
                <a:solidFill>
                  <a:srgbClr val="1E242A"/>
                </a:solidFill>
                <a:latin typeface="Aptos"/>
              </a:rPr>
              <a:t>One remaining risk or no-use condition.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3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468A52"/>
                </a:solidFill>
                <a:latin typeface="Aptos Display"/>
              </a:rPr>
              <a:t>Evidence pack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515600" cy="4937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500">
                <a:solidFill>
                  <a:srgbClr val="1E242A"/>
                </a:solidFill>
                <a:latin typeface="Aptos"/>
              </a:rPr>
              <a:t>Baseline table.</a:t>
            </a:r>
          </a:p>
          <a:p>
            <a:pPr/>
            <a:r>
              <a:rPr sz="2500">
                <a:solidFill>
                  <a:srgbClr val="1E242A"/>
                </a:solidFill>
                <a:latin typeface="Aptos"/>
              </a:rPr>
              <a:t>Leakage-audit output.</a:t>
            </a:r>
          </a:p>
          <a:p>
            <a:pPr/>
            <a:r>
              <a:rPr sz="2500">
                <a:solidFill>
                  <a:srgbClr val="1E242A"/>
                </a:solidFill>
                <a:latin typeface="Aptos"/>
              </a:rPr>
              <a:t>Expected-value calculation.</a:t>
            </a:r>
          </a:p>
          <a:p>
            <a:pPr/>
            <a:r>
              <a:rPr sz="2500">
                <a:solidFill>
                  <a:srgbClr val="1E242A"/>
                </a:solidFill>
                <a:latin typeface="Aptos"/>
              </a:rPr>
              <a:t>Decision memo with who receives an offer and why.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3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E242A"/>
                </a:solidFill>
                <a:latin typeface="Aptos Display"/>
              </a:rPr>
              <a:t>Rubric lens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3246120" cy="4434840"/>
          </a:xfrm>
          <a:prstGeom prst="roundRect">
            <a:avLst/>
          </a:prstGeom>
          <a:solidFill>
            <a:srgbClr val="E8F1FA"/>
          </a:solidFill>
          <a:ln>
            <a:solidFill>
              <a:srgbClr val="1D6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1D6FC2"/>
                </a:solidFill>
                <a:latin typeface="Aptos Display"/>
              </a:rPr>
              <a:t>Useful artefact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It runs, can be inspected, or clearly solves the mission within scope.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417320"/>
            <a:ext cx="3246120" cy="4434840"/>
          </a:xfrm>
          <a:prstGeom prst="roundRect">
            <a:avLst/>
          </a:prstGeom>
          <a:solidFill>
            <a:srgbClr val="E5F5F3"/>
          </a:solidFill>
          <a:ln>
            <a:solidFill>
              <a:srgbClr val="1D6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916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1D6FC2"/>
                </a:solidFill>
                <a:latin typeface="Aptos Display"/>
              </a:rPr>
              <a:t>Agent supervision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The team shows what was accepted, rejected, changed, and verified.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1417320"/>
            <a:ext cx="3246120" cy="4434840"/>
          </a:xfrm>
          <a:prstGeom prst="roundRect">
            <a:avLst/>
          </a:prstGeom>
          <a:solidFill>
            <a:srgbClr val="E9F4EB"/>
          </a:solidFill>
          <a:ln>
            <a:solidFill>
              <a:srgbClr val="1D6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1783080"/>
            <a:ext cx="274320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1">
                <a:solidFill>
                  <a:srgbClr val="1D6FC2"/>
                </a:solidFill>
                <a:latin typeface="Aptos Display"/>
              </a:rPr>
              <a:t>Defensible judgement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651760"/>
            <a:ext cx="2788920" cy="23774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1E242A"/>
                </a:solidFill>
                <a:latin typeface="Aptos"/>
              </a:rPr>
              <a:t>Claims are specific, evidence-linked, and include limits.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256032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500" b="1">
                <a:solidFill>
                  <a:srgbClr val="E8F1FA"/>
                </a:solidFill>
                <a:latin typeface="Aptos Display"/>
              </a:rPr>
              <a:t>Close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74519"/>
            <a:ext cx="10241280" cy="9144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Aptos Display"/>
              </a:rPr>
              <a:t>Make the habit portable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246120"/>
            <a:ext cx="9875520" cy="7772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200" b="0">
                <a:solidFill>
                  <a:srgbClr val="E8F1FA"/>
                </a:solidFill>
                <a:latin typeface="Aptos"/>
              </a:rPr>
              <a:t>Students should leave with one artefact, one failure, and one defensible claim.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4892040"/>
            <a:ext cx="2011680" cy="502920"/>
          </a:xfrm>
          <a:prstGeom prst="roundRect">
            <a:avLst/>
          </a:prstGeom>
          <a:solidFill>
            <a:srgbClr val="D98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Week 3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D98B23"/>
                </a:solidFill>
                <a:latin typeface="Aptos Display"/>
              </a:rPr>
              <a:t>Common traps to avoid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515600" cy="4937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500">
                <a:solidFill>
                  <a:srgbClr val="1E242A"/>
                </a:solidFill>
                <a:latin typeface="Aptos"/>
              </a:rPr>
              <a:t>Optimising AUC while ignoring capacity.</a:t>
            </a:r>
          </a:p>
          <a:p>
            <a:pPr/>
            <a:r>
              <a:rPr sz="2500">
                <a:solidFill>
                  <a:srgbClr val="1E242A"/>
                </a:solidFill>
                <a:latin typeface="Aptos"/>
              </a:rPr>
              <a:t>Letting the agent choose the target window.</a:t>
            </a:r>
          </a:p>
          <a:p>
            <a:pPr/>
            <a:r>
              <a:rPr sz="2500">
                <a:solidFill>
                  <a:srgbClr val="1E242A"/>
                </a:solidFill>
                <a:latin typeface="Aptos"/>
              </a:rPr>
              <a:t>Reporting a model score without a decision policy.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3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51560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0F8B8D"/>
                </a:solidFill>
                <a:latin typeface="Aptos Display"/>
              </a:rPr>
              <a:t>Stretch options for fast teams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515600" cy="4937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600">
                <a:solidFill>
                  <a:srgbClr val="1E242A"/>
                </a:solidFill>
                <a:latin typeface="Aptos"/>
              </a:rPr>
              <a:t>Add fairness or service-quality slices.</a:t>
            </a:r>
          </a:p>
          <a:p>
            <a:pPr/>
            <a:r>
              <a:rPr sz="2600">
                <a:solidFill>
                  <a:srgbClr val="1E242A"/>
                </a:solidFill>
                <a:latin typeface="Aptos"/>
              </a:rPr>
              <a:t>Compare model selection with a simple tenure-based rule.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3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E242A"/>
                </a:solidFill>
                <a:latin typeface="Aptos Display"/>
              </a:rPr>
              <a:t>After-class handoff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234440"/>
            <a:ext cx="640080" cy="393192"/>
          </a:xfrm>
          <a:prstGeom prst="roundRect">
            <a:avLst/>
          </a:prstGeom>
          <a:solidFill>
            <a:srgbClr val="1D6F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" y="1216152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Commit or save the artefact.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92808"/>
            <a:ext cx="640080" cy="393192"/>
          </a:xfrm>
          <a:prstGeom prst="roundRect">
            <a:avLst/>
          </a:prstGeom>
          <a:solidFill>
            <a:srgbClr val="1D6F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874520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Save the failed or rejected output.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551176"/>
            <a:ext cx="640080" cy="393192"/>
          </a:xfrm>
          <a:prstGeom prst="roundRect">
            <a:avLst/>
          </a:prstGeom>
          <a:solidFill>
            <a:srgbClr val="1D6F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532888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Complete the AI-use log.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209544"/>
            <a:ext cx="640080" cy="393192"/>
          </a:xfrm>
          <a:prstGeom prst="roundRect">
            <a:avLst/>
          </a:prstGeom>
          <a:solidFill>
            <a:srgbClr val="1D6F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3191256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Submit the defence note.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867912"/>
            <a:ext cx="640080" cy="393192"/>
          </a:xfrm>
          <a:prstGeom prst="roundRect">
            <a:avLst/>
          </a:prstGeom>
          <a:solidFill>
            <a:srgbClr val="1D6F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3849624"/>
            <a:ext cx="9509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900" b="0">
                <a:solidFill>
                  <a:srgbClr val="1E242A"/>
                </a:solidFill>
                <a:latin typeface="Aptos"/>
              </a:rPr>
              <a:t>Bring one unresolved question to the next retrieval link.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3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E242A"/>
                </a:solidFill>
                <a:latin typeface="Aptos Display"/>
              </a:rPr>
              <a:t>Agent work order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9875520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5C6670"/>
                </a:solidFill>
                <a:latin typeface="Aptos"/>
              </a:rPr>
              <a:t>Give the agent a job, not a wish.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1024128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1D6FC2"/>
                </a:solidFill>
                <a:latin typeface="Aptos Display"/>
              </a:rPr>
              <a:t>Use this 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40280"/>
            <a:ext cx="10241280" cy="3840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Goal: rank customers for a limited retention offer.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Inputs: checked Week 2 data and cost assumptions.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Acceptance: at least three baselines, no post-outcome features, threshold justified by cost.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Log every model run with data version and prompt reference.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3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300" b="1">
                <a:solidFill>
                  <a:srgbClr val="1E242A"/>
                </a:solidFill>
                <a:latin typeface="Aptos Display"/>
              </a:rPr>
              <a:t>Studio sprint A - build the first version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512064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1D6FC2"/>
                </a:solidFill>
                <a:latin typeface="Aptos Display"/>
              </a:rPr>
              <a:t>Tasks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5120640" cy="374903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300">
                <a:solidFill>
                  <a:srgbClr val="1E242A"/>
                </a:solidFill>
                <a:latin typeface="Aptos"/>
              </a:rPr>
              <a:t>Ask the agent to build three baselines.</a:t>
            </a:r>
          </a:p>
          <a:p>
            <a:pPr/>
            <a:r>
              <a:rPr sz="2300">
                <a:solidFill>
                  <a:srgbClr val="1E242A"/>
                </a:solidFill>
                <a:latin typeface="Aptos"/>
              </a:rPr>
              <a:t>Train one candidate model.</a:t>
            </a:r>
          </a:p>
          <a:p>
            <a:pPr/>
            <a:r>
              <a:rPr sz="2300">
                <a:solidFill>
                  <a:srgbClr val="1E242A"/>
                </a:solidFill>
                <a:latin typeface="Aptos"/>
              </a:rPr>
              <a:t>Compute expected value at multiple thresholds.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25880"/>
            <a:ext cx="475488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D98B23"/>
                </a:solidFill>
                <a:latin typeface="Aptos Display"/>
              </a:rPr>
              <a:t>Instructor watchlist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783080"/>
            <a:ext cx="4754880" cy="374903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Is the prompt specific enough?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Did the team run the artefact?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Did the team record what the agent changed?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3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E9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BA3B46"/>
                </a:solidFill>
                <a:latin typeface="Aptos Display"/>
              </a:rPr>
              <a:t>Failure cards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69848"/>
            <a:ext cx="987552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0">
                <a:solidFill>
                  <a:srgbClr val="5C6670"/>
                </a:solidFill>
                <a:latin typeface="Aptos"/>
              </a:rPr>
              <a:t>Release these after Sprint A. Students must expose the defect before fixing 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324612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BA3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2743200" cy="4114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BA3B46"/>
                </a:solidFill>
                <a:latin typeface="Aptos Display"/>
              </a:rPr>
              <a:t>Card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88920"/>
            <a:ext cx="2788920" cy="17830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000" b="1">
                <a:solidFill>
                  <a:srgbClr val="1E242A"/>
                </a:solidFill>
                <a:latin typeface="Aptos Display"/>
              </a:rPr>
              <a:t>Post-outcome column leaks the answer.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828800"/>
            <a:ext cx="324612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BA3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60" y="2148840"/>
            <a:ext cx="2743200" cy="4114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BA3B46"/>
                </a:solidFill>
                <a:latin typeface="Aptos Display"/>
              </a:rPr>
              <a:t>Card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2788920"/>
            <a:ext cx="2788920" cy="17830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000" b="1">
                <a:solidFill>
                  <a:srgbClr val="1E242A"/>
                </a:solidFill>
                <a:latin typeface="Aptos Display"/>
              </a:rPr>
              <a:t>Accuracy looks high because churn is rare.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28800"/>
            <a:ext cx="324612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BA3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0" y="2148840"/>
            <a:ext cx="2743200" cy="4114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BA3B46"/>
                </a:solidFill>
                <a:latin typeface="Aptos Display"/>
              </a:rPr>
              <a:t>Card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788920"/>
            <a:ext cx="2788920" cy="178308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000" b="1">
                <a:solidFill>
                  <a:srgbClr val="1E242A"/>
                </a:solidFill>
                <a:latin typeface="Aptos Display"/>
              </a:rPr>
              <a:t>Agent picks 0.5 threshold without cost logic.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3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300" b="1">
                <a:solidFill>
                  <a:srgbClr val="1E242A"/>
                </a:solidFill>
                <a:latin typeface="Aptos Display"/>
              </a:rPr>
              <a:t>Studio sprint B - repair and harden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521208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468A52"/>
                </a:solidFill>
                <a:latin typeface="Aptos Display"/>
              </a:rPr>
              <a:t>Repair moves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521208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300">
                <a:solidFill>
                  <a:srgbClr val="1E242A"/>
                </a:solidFill>
                <a:latin typeface="Aptos"/>
              </a:rPr>
              <a:t>Add forbidden-feature checks.</a:t>
            </a:r>
          </a:p>
          <a:p>
            <a:pPr/>
            <a:r>
              <a:rPr sz="2300">
                <a:solidFill>
                  <a:srgbClr val="1E242A"/>
                </a:solidFill>
                <a:latin typeface="Aptos"/>
              </a:rPr>
              <a:t>Compare against business-rule and random baselines.</a:t>
            </a:r>
          </a:p>
          <a:p>
            <a:pPr/>
            <a:r>
              <a:rPr sz="2300">
                <a:solidFill>
                  <a:srgbClr val="1E242A"/>
                </a:solidFill>
                <a:latin typeface="Aptos"/>
              </a:rPr>
              <a:t>Document the threshold and sensitivity range.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25880"/>
            <a:ext cx="475488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0F8B8D"/>
                </a:solidFill>
                <a:latin typeface="Aptos Display"/>
              </a:rPr>
              <a:t>Definition of done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783080"/>
            <a:ext cx="475488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The failure is reproducible.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The fix is committed.</a:t>
            </a:r>
          </a:p>
          <a:p>
            <a:pPr/>
            <a:r>
              <a:rPr sz="2200">
                <a:solidFill>
                  <a:srgbClr val="1E242A"/>
                </a:solidFill>
                <a:latin typeface="Aptos"/>
              </a:rPr>
              <a:t>A future failure would be caught earlier.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3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9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468A52"/>
                </a:solidFill>
                <a:latin typeface="Aptos Display"/>
              </a:rPr>
              <a:t>Evidence pack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24128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468A52"/>
                </a:solidFill>
                <a:latin typeface="Aptos Display"/>
              </a:rPr>
              <a:t>What students should submit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1024128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300">
                <a:solidFill>
                  <a:srgbClr val="1E242A"/>
                </a:solidFill>
                <a:latin typeface="Aptos"/>
              </a:rPr>
              <a:t>Baseline table.</a:t>
            </a:r>
          </a:p>
          <a:p>
            <a:pPr/>
            <a:r>
              <a:rPr sz="2300">
                <a:solidFill>
                  <a:srgbClr val="1E242A"/>
                </a:solidFill>
                <a:latin typeface="Aptos"/>
              </a:rPr>
              <a:t>Leakage-audit output.</a:t>
            </a:r>
          </a:p>
          <a:p>
            <a:pPr/>
            <a:r>
              <a:rPr sz="2300">
                <a:solidFill>
                  <a:srgbClr val="1E242A"/>
                </a:solidFill>
                <a:latin typeface="Aptos"/>
              </a:rPr>
              <a:t>Expected-value calculation.</a:t>
            </a:r>
          </a:p>
          <a:p>
            <a:pPr/>
            <a:r>
              <a:rPr sz="2300">
                <a:solidFill>
                  <a:srgbClr val="1E242A"/>
                </a:solidFill>
                <a:latin typeface="Aptos"/>
              </a:rPr>
              <a:t>Decision memo with who receives an offer and why.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3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E242A"/>
                </a:solidFill>
                <a:latin typeface="Aptos Display"/>
              </a:rPr>
              <a:t>Peer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512064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1D6FC2"/>
                </a:solidFill>
                <a:latin typeface="Aptos Display"/>
              </a:rPr>
              <a:t>Demo in three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5120640" cy="4023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300">
                <a:solidFill>
                  <a:srgbClr val="1E242A"/>
                </a:solidFill>
                <a:latin typeface="Aptos"/>
              </a:rPr>
              <a:t>Run the artefact.</a:t>
            </a:r>
          </a:p>
          <a:p>
            <a:pPr/>
            <a:r>
              <a:rPr sz="2300">
                <a:solidFill>
                  <a:srgbClr val="1E242A"/>
                </a:solidFill>
                <a:latin typeface="Aptos"/>
              </a:rPr>
              <a:t>Show the failure you found.</a:t>
            </a:r>
          </a:p>
          <a:p>
            <a:pPr/>
            <a:r>
              <a:rPr sz="2300">
                <a:solidFill>
                  <a:srgbClr val="1E242A"/>
                </a:solidFill>
                <a:latin typeface="Aptos"/>
              </a:rPr>
              <a:t>Show the evidence that supports the final claim.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34440"/>
            <a:ext cx="475488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6856A6"/>
                </a:solidFill>
                <a:latin typeface="Aptos Display"/>
              </a:rPr>
              <a:t>Peer questions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91640"/>
            <a:ext cx="4754880" cy="4023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300">
                <a:solidFill>
                  <a:srgbClr val="1E242A"/>
                </a:solidFill>
                <a:latin typeface="Aptos"/>
              </a:rPr>
              <a:t>What did the agent get wrong?</a:t>
            </a:r>
          </a:p>
          <a:p>
            <a:pPr/>
            <a:r>
              <a:rPr sz="2300">
                <a:solidFill>
                  <a:srgbClr val="1E242A"/>
                </a:solidFill>
                <a:latin typeface="Aptos"/>
              </a:rPr>
              <a:t>What would fail next?</a:t>
            </a:r>
          </a:p>
          <a:p>
            <a:pPr/>
            <a:r>
              <a:rPr sz="2300">
                <a:solidFill>
                  <a:srgbClr val="1E242A"/>
                </a:solidFill>
                <a:latin typeface="Aptos"/>
              </a:rPr>
              <a:t>What should not be used yet?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3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D98B23"/>
                </a:solidFill>
                <a:latin typeface="Aptos Display"/>
              </a:rPr>
              <a:t>Common traps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24128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D98B23"/>
                </a:solidFill>
                <a:latin typeface="Aptos Display"/>
              </a:rPr>
              <a:t>Watch for these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241280" cy="397763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300">
                <a:solidFill>
                  <a:srgbClr val="1E242A"/>
                </a:solidFill>
                <a:latin typeface="Aptos"/>
              </a:rPr>
              <a:t>Optimising AUC while ignoring capacity.</a:t>
            </a:r>
          </a:p>
          <a:p>
            <a:pPr/>
            <a:r>
              <a:rPr sz="2300">
                <a:solidFill>
                  <a:srgbClr val="1E242A"/>
                </a:solidFill>
                <a:latin typeface="Aptos"/>
              </a:rPr>
              <a:t>Letting the agent choose the target window.</a:t>
            </a:r>
          </a:p>
          <a:p>
            <a:pPr/>
            <a:r>
              <a:rPr sz="2300">
                <a:solidFill>
                  <a:srgbClr val="1E242A"/>
                </a:solidFill>
                <a:latin typeface="Aptos"/>
              </a:rPr>
              <a:t>Reporting a model score without a decision policy.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3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943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400" b="1">
                <a:solidFill>
                  <a:srgbClr val="1E242A"/>
                </a:solidFill>
                <a:latin typeface="Aptos Display"/>
              </a:rPr>
              <a:t>If your team finishes early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24128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1800" b="1">
                <a:solidFill>
                  <a:srgbClr val="0F8B8D"/>
                </a:solidFill>
                <a:latin typeface="Aptos Display"/>
              </a:rPr>
              <a:t>Stretch options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10241280" cy="3840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/>
            <a:r>
              <a:rPr sz="2500">
                <a:solidFill>
                  <a:srgbClr val="1E242A"/>
                </a:solidFill>
                <a:latin typeface="Aptos"/>
              </a:rPr>
              <a:t>Add fairness or service-quality slices.</a:t>
            </a:r>
          </a:p>
          <a:p>
            <a:pPr/>
            <a:r>
              <a:rPr sz="2500">
                <a:solidFill>
                  <a:srgbClr val="1E242A"/>
                </a:solidFill>
                <a:latin typeface="Aptos"/>
              </a:rPr>
              <a:t>Compare model selection with a simple tenure-based rule.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3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48640"/>
            <a:ext cx="10241280" cy="5029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2800" b="1">
                <a:solidFill>
                  <a:srgbClr val="D98B23"/>
                </a:solidFill>
                <a:latin typeface="Aptos Display"/>
              </a:rPr>
              <a:t>Exit ticket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28800"/>
            <a:ext cx="10241280" cy="1371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Aptos Display"/>
              </a:rPr>
              <a:t>The decision policy I can defend is...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4160520"/>
            <a:ext cx="9144000" cy="6858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sz="2200" b="0">
                <a:solidFill>
                  <a:srgbClr val="E8F1FA"/>
                </a:solidFill>
                <a:latin typeface="Aptos"/>
              </a:rPr>
              <a:t>Write one sentence. It goes into your portfolio evidence.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789920" cy="9144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3200" b="1">
                <a:solidFill>
                  <a:srgbClr val="1D6FC2"/>
                </a:solidFill>
                <a:latin typeface="Aptos Display"/>
              </a:rPr>
              <a:t>Leave with this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423160"/>
            <a:ext cx="10332720" cy="16459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sz="3600" b="1">
                <a:solidFill>
                  <a:srgbClr val="1E242A"/>
                </a:solidFill>
                <a:latin typeface="Aptos Display"/>
              </a:rPr>
              <a:t>A model becomes useful only when it changes a constrained decision.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51960" y="5257800"/>
            <a:ext cx="3657600" cy="594360"/>
          </a:xfrm>
          <a:prstGeom prst="roundRect">
            <a:avLst/>
          </a:prstGeom>
          <a:solidFill>
            <a:srgbClr val="1E2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FFFFFF"/>
                </a:solidFill>
                <a:latin typeface="Aptos Display"/>
              </a:rPr>
              <a:t>BUILD / BREAK / DEFEND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8046720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l"/>
            <a:r>
              <a:rPr sz="900" b="0">
                <a:solidFill>
                  <a:srgbClr val="5C6670"/>
                </a:solidFill>
                <a:latin typeface="Aptos"/>
              </a:rPr>
              <a:t>ANL559 - AI Agents for Analytics Automation | Studio Refresh | Week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